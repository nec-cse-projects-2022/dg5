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59" r:id="rId5"/>
    <p:sldId id="278" r:id="rId6"/>
    <p:sldId id="260" r:id="rId7"/>
    <p:sldId id="285" r:id="rId8"/>
    <p:sldId id="261" r:id="rId9"/>
    <p:sldId id="279" r:id="rId10"/>
    <p:sldId id="280" r:id="rId11"/>
    <p:sldId id="262" r:id="rId12"/>
    <p:sldId id="263" r:id="rId13"/>
    <p:sldId id="295" r:id="rId14"/>
    <p:sldId id="264" r:id="rId15"/>
    <p:sldId id="265" r:id="rId16"/>
    <p:sldId id="286" r:id="rId17"/>
    <p:sldId id="287" r:id="rId18"/>
    <p:sldId id="266" r:id="rId19"/>
    <p:sldId id="281" r:id="rId20"/>
    <p:sldId id="267" r:id="rId21"/>
    <p:sldId id="268" r:id="rId22"/>
    <p:sldId id="293" r:id="rId23"/>
    <p:sldId id="294" r:id="rId24"/>
    <p:sldId id="269" r:id="rId25"/>
    <p:sldId id="270" r:id="rId26"/>
    <p:sldId id="271" r:id="rId27"/>
    <p:sldId id="272" r:id="rId28"/>
    <p:sldId id="288" r:id="rId29"/>
    <p:sldId id="273" r:id="rId30"/>
    <p:sldId id="289" r:id="rId31"/>
    <p:sldId id="290" r:id="rId32"/>
    <p:sldId id="291" r:id="rId33"/>
    <p:sldId id="274" r:id="rId34"/>
    <p:sldId id="292" r:id="rId35"/>
    <p:sldId id="282" r:id="rId36"/>
    <p:sldId id="275" r:id="rId37"/>
    <p:sldId id="283" r:id="rId38"/>
    <p:sldId id="284" r:id="rId39"/>
    <p:sldId id="276" r:id="rId40"/>
    <p:sldId id="27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F2AA88-8CF7-48D0-84C8-F8025BD5B059}"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26C82-54A3-471D-9E05-4926F243E95A}" type="slidenum">
              <a:rPr lang="en-US" smtClean="0"/>
              <a:t>‹#›</a:t>
            </a:fld>
            <a:endParaRPr lang="en-US"/>
          </a:p>
        </p:txBody>
      </p:sp>
    </p:spTree>
    <p:extLst>
      <p:ext uri="{BB962C8B-B14F-4D97-AF65-F5344CB8AC3E}">
        <p14:creationId xmlns:p14="http://schemas.microsoft.com/office/powerpoint/2010/main" val="558773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26C82-54A3-471D-9E05-4926F243E95A}" type="slidenum">
              <a:rPr lang="en-US" smtClean="0"/>
              <a:t>1</a:t>
            </a:fld>
            <a:endParaRPr lang="en-US"/>
          </a:p>
        </p:txBody>
      </p:sp>
    </p:spTree>
    <p:extLst>
      <p:ext uri="{BB962C8B-B14F-4D97-AF65-F5344CB8AC3E}">
        <p14:creationId xmlns:p14="http://schemas.microsoft.com/office/powerpoint/2010/main" val="1153261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26C82-54A3-471D-9E05-4926F243E95A}" type="slidenum">
              <a:rPr lang="en-US" smtClean="0"/>
              <a:t>2</a:t>
            </a:fld>
            <a:endParaRPr lang="en-US"/>
          </a:p>
        </p:txBody>
      </p:sp>
    </p:spTree>
    <p:extLst>
      <p:ext uri="{BB962C8B-B14F-4D97-AF65-F5344CB8AC3E}">
        <p14:creationId xmlns:p14="http://schemas.microsoft.com/office/powerpoint/2010/main" val="3385078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26C82-54A3-471D-9E05-4926F243E95A}" type="slidenum">
              <a:rPr lang="en-US" smtClean="0"/>
              <a:t>3</a:t>
            </a:fld>
            <a:endParaRPr lang="en-US"/>
          </a:p>
        </p:txBody>
      </p:sp>
    </p:spTree>
    <p:extLst>
      <p:ext uri="{BB962C8B-B14F-4D97-AF65-F5344CB8AC3E}">
        <p14:creationId xmlns:p14="http://schemas.microsoft.com/office/powerpoint/2010/main" val="4076037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26C82-54A3-471D-9E05-4926F243E95A}" type="slidenum">
              <a:rPr lang="en-US" smtClean="0"/>
              <a:t>4</a:t>
            </a:fld>
            <a:endParaRPr lang="en-US"/>
          </a:p>
        </p:txBody>
      </p:sp>
    </p:spTree>
    <p:extLst>
      <p:ext uri="{BB962C8B-B14F-4D97-AF65-F5344CB8AC3E}">
        <p14:creationId xmlns:p14="http://schemas.microsoft.com/office/powerpoint/2010/main" val="3578436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26C82-54A3-471D-9E05-4926F243E95A}" type="slidenum">
              <a:rPr lang="en-US" smtClean="0"/>
              <a:t>6</a:t>
            </a:fld>
            <a:endParaRPr lang="en-US"/>
          </a:p>
        </p:txBody>
      </p:sp>
    </p:spTree>
    <p:extLst>
      <p:ext uri="{BB962C8B-B14F-4D97-AF65-F5344CB8AC3E}">
        <p14:creationId xmlns:p14="http://schemas.microsoft.com/office/powerpoint/2010/main" val="215979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226C82-54A3-471D-9E05-4926F243E95A}" type="slidenum">
              <a:rPr lang="en-US" smtClean="0"/>
              <a:t>7</a:t>
            </a:fld>
            <a:endParaRPr lang="en-US"/>
          </a:p>
        </p:txBody>
      </p:sp>
    </p:spTree>
    <p:extLst>
      <p:ext uri="{BB962C8B-B14F-4D97-AF65-F5344CB8AC3E}">
        <p14:creationId xmlns:p14="http://schemas.microsoft.com/office/powerpoint/2010/main" val="3913180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6E65D-481D-EFD6-5397-EEE8820AE7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B2306A-8AE6-ACE3-9C6A-2EA3FFDD5D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B4B2E0-E7AA-B7F0-D131-06A993C6A6B0}"/>
              </a:ext>
            </a:extLst>
          </p:cNvPr>
          <p:cNvSpPr>
            <a:spLocks noGrp="1"/>
          </p:cNvSpPr>
          <p:nvPr>
            <p:ph type="dt" sz="half" idx="10"/>
          </p:nvPr>
        </p:nvSpPr>
        <p:spPr/>
        <p:txBody>
          <a:bodyPr/>
          <a:lstStyle/>
          <a:p>
            <a:r>
              <a:rPr lang="en-US"/>
              <a:t>11/9/2025</a:t>
            </a:r>
          </a:p>
        </p:txBody>
      </p:sp>
      <p:sp>
        <p:nvSpPr>
          <p:cNvPr id="5" name="Footer Placeholder 4">
            <a:extLst>
              <a:ext uri="{FF2B5EF4-FFF2-40B4-BE49-F238E27FC236}">
                <a16:creationId xmlns:a16="http://schemas.microsoft.com/office/drawing/2014/main" id="{4674F472-E57F-A25F-F150-66AD02C3B610}"/>
              </a:ext>
            </a:extLst>
          </p:cNvPr>
          <p:cNvSpPr>
            <a:spLocks noGrp="1"/>
          </p:cNvSpPr>
          <p:nvPr>
            <p:ph type="ftr" sz="quarter" idx="11"/>
          </p:nvPr>
        </p:nvSpPr>
        <p:spPr/>
        <p:txBody>
          <a:bodyPr/>
          <a:lstStyle/>
          <a:p>
            <a:r>
              <a:rPr lang="en-US"/>
              <a:t>Batch No.DG-5            Department of CSE</a:t>
            </a:r>
          </a:p>
        </p:txBody>
      </p:sp>
      <p:sp>
        <p:nvSpPr>
          <p:cNvPr id="6" name="Slide Number Placeholder 5">
            <a:extLst>
              <a:ext uri="{FF2B5EF4-FFF2-40B4-BE49-F238E27FC236}">
                <a16:creationId xmlns:a16="http://schemas.microsoft.com/office/drawing/2014/main" id="{BC733757-8AEA-FC6B-3AEB-DC829F875338}"/>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3932760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AA690-33BD-8CC7-B353-528DEC0917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26DAA8-F60E-613F-2962-75B98E094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C8F374-7A41-A7FB-52E2-6C7ED8873AE8}"/>
              </a:ext>
            </a:extLst>
          </p:cNvPr>
          <p:cNvSpPr>
            <a:spLocks noGrp="1"/>
          </p:cNvSpPr>
          <p:nvPr>
            <p:ph type="dt" sz="half" idx="10"/>
          </p:nvPr>
        </p:nvSpPr>
        <p:spPr/>
        <p:txBody>
          <a:bodyPr/>
          <a:lstStyle/>
          <a:p>
            <a:r>
              <a:rPr lang="en-US"/>
              <a:t>11/9/2025</a:t>
            </a:r>
          </a:p>
        </p:txBody>
      </p:sp>
      <p:sp>
        <p:nvSpPr>
          <p:cNvPr id="5" name="Footer Placeholder 4">
            <a:extLst>
              <a:ext uri="{FF2B5EF4-FFF2-40B4-BE49-F238E27FC236}">
                <a16:creationId xmlns:a16="http://schemas.microsoft.com/office/drawing/2014/main" id="{75B7AFAA-CB27-8D76-484B-69EB5569E3EE}"/>
              </a:ext>
            </a:extLst>
          </p:cNvPr>
          <p:cNvSpPr>
            <a:spLocks noGrp="1"/>
          </p:cNvSpPr>
          <p:nvPr>
            <p:ph type="ftr" sz="quarter" idx="11"/>
          </p:nvPr>
        </p:nvSpPr>
        <p:spPr/>
        <p:txBody>
          <a:bodyPr/>
          <a:lstStyle/>
          <a:p>
            <a:r>
              <a:rPr lang="en-US"/>
              <a:t>Batch No.DG-5            Department of CSE</a:t>
            </a:r>
          </a:p>
        </p:txBody>
      </p:sp>
      <p:sp>
        <p:nvSpPr>
          <p:cNvPr id="6" name="Slide Number Placeholder 5">
            <a:extLst>
              <a:ext uri="{FF2B5EF4-FFF2-40B4-BE49-F238E27FC236}">
                <a16:creationId xmlns:a16="http://schemas.microsoft.com/office/drawing/2014/main" id="{4D0B8201-E870-4A33-AC46-1241EAC3C77E}"/>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4146718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67F14-E7DC-2A0C-499E-14C204B88E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EB44A5-1843-62B8-D296-075A1F941D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692532-4669-3DF2-3875-AA5DEC1C33EB}"/>
              </a:ext>
            </a:extLst>
          </p:cNvPr>
          <p:cNvSpPr>
            <a:spLocks noGrp="1"/>
          </p:cNvSpPr>
          <p:nvPr>
            <p:ph type="dt" sz="half" idx="10"/>
          </p:nvPr>
        </p:nvSpPr>
        <p:spPr/>
        <p:txBody>
          <a:bodyPr/>
          <a:lstStyle/>
          <a:p>
            <a:r>
              <a:rPr lang="en-US"/>
              <a:t>11/9/2025</a:t>
            </a:r>
          </a:p>
        </p:txBody>
      </p:sp>
      <p:sp>
        <p:nvSpPr>
          <p:cNvPr id="5" name="Footer Placeholder 4">
            <a:extLst>
              <a:ext uri="{FF2B5EF4-FFF2-40B4-BE49-F238E27FC236}">
                <a16:creationId xmlns:a16="http://schemas.microsoft.com/office/drawing/2014/main" id="{F995330D-BBF6-B029-F9BB-0D3A02CB3E67}"/>
              </a:ext>
            </a:extLst>
          </p:cNvPr>
          <p:cNvSpPr>
            <a:spLocks noGrp="1"/>
          </p:cNvSpPr>
          <p:nvPr>
            <p:ph type="ftr" sz="quarter" idx="11"/>
          </p:nvPr>
        </p:nvSpPr>
        <p:spPr/>
        <p:txBody>
          <a:bodyPr/>
          <a:lstStyle/>
          <a:p>
            <a:r>
              <a:rPr lang="en-US"/>
              <a:t>Batch No.DG-5            Department of CSE</a:t>
            </a:r>
          </a:p>
        </p:txBody>
      </p:sp>
      <p:sp>
        <p:nvSpPr>
          <p:cNvPr id="6" name="Slide Number Placeholder 5">
            <a:extLst>
              <a:ext uri="{FF2B5EF4-FFF2-40B4-BE49-F238E27FC236}">
                <a16:creationId xmlns:a16="http://schemas.microsoft.com/office/drawing/2014/main" id="{4C5D155F-611F-52E2-344D-E0EF36B5CD41}"/>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1003886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B36F0-1D62-7658-0957-117148B708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ED2D94-1199-B8F1-4717-FDB9B79E41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5DCD4-2ED1-95BC-7252-EB4AA98FDC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5F9DD8-CA28-5AFC-E8A8-66A25DBC10BC}"/>
              </a:ext>
            </a:extLst>
          </p:cNvPr>
          <p:cNvSpPr>
            <a:spLocks noGrp="1"/>
          </p:cNvSpPr>
          <p:nvPr>
            <p:ph type="dt" sz="half" idx="10"/>
          </p:nvPr>
        </p:nvSpPr>
        <p:spPr/>
        <p:txBody>
          <a:bodyPr/>
          <a:lstStyle/>
          <a:p>
            <a:r>
              <a:rPr lang="en-US"/>
              <a:t>11/9/2025</a:t>
            </a:r>
          </a:p>
        </p:txBody>
      </p:sp>
      <p:sp>
        <p:nvSpPr>
          <p:cNvPr id="6" name="Footer Placeholder 5">
            <a:extLst>
              <a:ext uri="{FF2B5EF4-FFF2-40B4-BE49-F238E27FC236}">
                <a16:creationId xmlns:a16="http://schemas.microsoft.com/office/drawing/2014/main" id="{C0BC9873-9DA5-B236-ED9A-0424AC976A76}"/>
              </a:ext>
            </a:extLst>
          </p:cNvPr>
          <p:cNvSpPr>
            <a:spLocks noGrp="1"/>
          </p:cNvSpPr>
          <p:nvPr>
            <p:ph type="ftr" sz="quarter" idx="11"/>
          </p:nvPr>
        </p:nvSpPr>
        <p:spPr/>
        <p:txBody>
          <a:bodyPr/>
          <a:lstStyle/>
          <a:p>
            <a:r>
              <a:rPr lang="en-US"/>
              <a:t>Batch No.DG-5            Department of CSE</a:t>
            </a:r>
          </a:p>
        </p:txBody>
      </p:sp>
      <p:sp>
        <p:nvSpPr>
          <p:cNvPr id="7" name="Slide Number Placeholder 6">
            <a:extLst>
              <a:ext uri="{FF2B5EF4-FFF2-40B4-BE49-F238E27FC236}">
                <a16:creationId xmlns:a16="http://schemas.microsoft.com/office/drawing/2014/main" id="{E82D9E83-962D-FA41-F0B8-F75B00B22AFA}"/>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1579590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97C6-DD07-5682-B2D9-B34D7072D9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D8245F-5FDD-6F69-13C1-D46541FDD6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42405-16ED-5266-06D0-B047EF9472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1C49DB-C287-D41E-BE0C-04B3D3F3E5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6BF68-BD8B-DE28-C324-CC984FD886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E3BAA6-36AA-18E1-FE9B-43B774BB738F}"/>
              </a:ext>
            </a:extLst>
          </p:cNvPr>
          <p:cNvSpPr>
            <a:spLocks noGrp="1"/>
          </p:cNvSpPr>
          <p:nvPr>
            <p:ph type="dt" sz="half" idx="10"/>
          </p:nvPr>
        </p:nvSpPr>
        <p:spPr/>
        <p:txBody>
          <a:bodyPr/>
          <a:lstStyle/>
          <a:p>
            <a:r>
              <a:rPr lang="en-US"/>
              <a:t>11/9/2025</a:t>
            </a:r>
          </a:p>
        </p:txBody>
      </p:sp>
      <p:sp>
        <p:nvSpPr>
          <p:cNvPr id="8" name="Footer Placeholder 7">
            <a:extLst>
              <a:ext uri="{FF2B5EF4-FFF2-40B4-BE49-F238E27FC236}">
                <a16:creationId xmlns:a16="http://schemas.microsoft.com/office/drawing/2014/main" id="{B20DAB74-ADDD-38C7-5667-11BFC1D258DC}"/>
              </a:ext>
            </a:extLst>
          </p:cNvPr>
          <p:cNvSpPr>
            <a:spLocks noGrp="1"/>
          </p:cNvSpPr>
          <p:nvPr>
            <p:ph type="ftr" sz="quarter" idx="11"/>
          </p:nvPr>
        </p:nvSpPr>
        <p:spPr/>
        <p:txBody>
          <a:bodyPr/>
          <a:lstStyle/>
          <a:p>
            <a:r>
              <a:rPr lang="en-US"/>
              <a:t>Batch No.DG-5            Department of CSE</a:t>
            </a:r>
          </a:p>
        </p:txBody>
      </p:sp>
      <p:sp>
        <p:nvSpPr>
          <p:cNvPr id="9" name="Slide Number Placeholder 8">
            <a:extLst>
              <a:ext uri="{FF2B5EF4-FFF2-40B4-BE49-F238E27FC236}">
                <a16:creationId xmlns:a16="http://schemas.microsoft.com/office/drawing/2014/main" id="{DF2922A7-8D5C-CFA7-0373-A73800B6A75A}"/>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1109483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13B52-9278-2825-9739-7E2185D6F0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13DAF5-DF69-F7B1-66BD-94A094E08AB6}"/>
              </a:ext>
            </a:extLst>
          </p:cNvPr>
          <p:cNvSpPr>
            <a:spLocks noGrp="1"/>
          </p:cNvSpPr>
          <p:nvPr>
            <p:ph type="dt" sz="half" idx="10"/>
          </p:nvPr>
        </p:nvSpPr>
        <p:spPr/>
        <p:txBody>
          <a:bodyPr/>
          <a:lstStyle/>
          <a:p>
            <a:r>
              <a:rPr lang="en-US"/>
              <a:t>11/9/2025</a:t>
            </a:r>
          </a:p>
        </p:txBody>
      </p:sp>
      <p:sp>
        <p:nvSpPr>
          <p:cNvPr id="4" name="Footer Placeholder 3">
            <a:extLst>
              <a:ext uri="{FF2B5EF4-FFF2-40B4-BE49-F238E27FC236}">
                <a16:creationId xmlns:a16="http://schemas.microsoft.com/office/drawing/2014/main" id="{6A3149D2-F47E-A288-E9AB-099268FC81A1}"/>
              </a:ext>
            </a:extLst>
          </p:cNvPr>
          <p:cNvSpPr>
            <a:spLocks noGrp="1"/>
          </p:cNvSpPr>
          <p:nvPr>
            <p:ph type="ftr" sz="quarter" idx="11"/>
          </p:nvPr>
        </p:nvSpPr>
        <p:spPr/>
        <p:txBody>
          <a:bodyPr/>
          <a:lstStyle/>
          <a:p>
            <a:r>
              <a:rPr lang="en-US"/>
              <a:t>Batch No.DG-5            Department of CSE</a:t>
            </a:r>
          </a:p>
        </p:txBody>
      </p:sp>
      <p:sp>
        <p:nvSpPr>
          <p:cNvPr id="5" name="Slide Number Placeholder 4">
            <a:extLst>
              <a:ext uri="{FF2B5EF4-FFF2-40B4-BE49-F238E27FC236}">
                <a16:creationId xmlns:a16="http://schemas.microsoft.com/office/drawing/2014/main" id="{354BC427-C51E-8AB1-A7C5-4270E225E3B4}"/>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104767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FAE567A-2DEE-4359-FF4F-3D16BE34F5A5}"/>
              </a:ext>
            </a:extLst>
          </p:cNvPr>
          <p:cNvSpPr>
            <a:spLocks noGrp="1"/>
          </p:cNvSpPr>
          <p:nvPr>
            <p:ph type="dt" sz="half" idx="10"/>
          </p:nvPr>
        </p:nvSpPr>
        <p:spPr/>
        <p:txBody>
          <a:bodyPr/>
          <a:lstStyle/>
          <a:p>
            <a:r>
              <a:rPr lang="en-US"/>
              <a:t>11/9/2025</a:t>
            </a:r>
          </a:p>
        </p:txBody>
      </p:sp>
      <p:sp>
        <p:nvSpPr>
          <p:cNvPr id="6" name="Footer Placeholder 5">
            <a:extLst>
              <a:ext uri="{FF2B5EF4-FFF2-40B4-BE49-F238E27FC236}">
                <a16:creationId xmlns:a16="http://schemas.microsoft.com/office/drawing/2014/main" id="{88E65C25-DD96-91A1-1565-F58DD14FE89E}"/>
              </a:ext>
            </a:extLst>
          </p:cNvPr>
          <p:cNvSpPr>
            <a:spLocks noGrp="1"/>
          </p:cNvSpPr>
          <p:nvPr>
            <p:ph type="ftr" sz="quarter" idx="11"/>
          </p:nvPr>
        </p:nvSpPr>
        <p:spPr/>
        <p:txBody>
          <a:bodyPr/>
          <a:lstStyle/>
          <a:p>
            <a:r>
              <a:rPr lang="en-US"/>
              <a:t>Batch No.DG-5            Department of CSE</a:t>
            </a:r>
          </a:p>
        </p:txBody>
      </p:sp>
      <p:sp>
        <p:nvSpPr>
          <p:cNvPr id="7" name="Slide Number Placeholder 6">
            <a:extLst>
              <a:ext uri="{FF2B5EF4-FFF2-40B4-BE49-F238E27FC236}">
                <a16:creationId xmlns:a16="http://schemas.microsoft.com/office/drawing/2014/main" id="{A5C364BF-B5D1-9308-769D-46F484FC65D3}"/>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665104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59BB-9F81-00DA-BE10-4DBB44E088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B52879-1D69-517F-4C2C-C046FBBDF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A62B17-03BD-7CDC-49C9-4A9BCEDD4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72450-4CF4-7B16-9A41-EAEB12BA06DC}"/>
              </a:ext>
            </a:extLst>
          </p:cNvPr>
          <p:cNvSpPr>
            <a:spLocks noGrp="1"/>
          </p:cNvSpPr>
          <p:nvPr>
            <p:ph type="dt" sz="half" idx="10"/>
          </p:nvPr>
        </p:nvSpPr>
        <p:spPr/>
        <p:txBody>
          <a:bodyPr/>
          <a:lstStyle/>
          <a:p>
            <a:r>
              <a:rPr lang="en-US"/>
              <a:t>11/9/2025</a:t>
            </a:r>
          </a:p>
        </p:txBody>
      </p:sp>
      <p:sp>
        <p:nvSpPr>
          <p:cNvPr id="6" name="Footer Placeholder 5">
            <a:extLst>
              <a:ext uri="{FF2B5EF4-FFF2-40B4-BE49-F238E27FC236}">
                <a16:creationId xmlns:a16="http://schemas.microsoft.com/office/drawing/2014/main" id="{7F6A1679-E378-394D-9B1B-429F16477DB3}"/>
              </a:ext>
            </a:extLst>
          </p:cNvPr>
          <p:cNvSpPr>
            <a:spLocks noGrp="1"/>
          </p:cNvSpPr>
          <p:nvPr>
            <p:ph type="ftr" sz="quarter" idx="11"/>
          </p:nvPr>
        </p:nvSpPr>
        <p:spPr/>
        <p:txBody>
          <a:bodyPr/>
          <a:lstStyle/>
          <a:p>
            <a:r>
              <a:rPr lang="en-US"/>
              <a:t>Batch No.DG-5            Department of CSE</a:t>
            </a:r>
          </a:p>
        </p:txBody>
      </p:sp>
      <p:sp>
        <p:nvSpPr>
          <p:cNvPr id="7" name="Slide Number Placeholder 6">
            <a:extLst>
              <a:ext uri="{FF2B5EF4-FFF2-40B4-BE49-F238E27FC236}">
                <a16:creationId xmlns:a16="http://schemas.microsoft.com/office/drawing/2014/main" id="{333CB630-9D3A-DFE2-5FC4-86451D102494}"/>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289684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42D0-B59B-DED5-203A-7DB708126F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F2CC38-4C59-7096-6A12-745F43361A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19F5F6-266E-60E7-F6B9-D8BA03308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FB2636-2C79-545C-5D4F-720F7526F9BF}"/>
              </a:ext>
            </a:extLst>
          </p:cNvPr>
          <p:cNvSpPr>
            <a:spLocks noGrp="1"/>
          </p:cNvSpPr>
          <p:nvPr>
            <p:ph type="dt" sz="half" idx="10"/>
          </p:nvPr>
        </p:nvSpPr>
        <p:spPr/>
        <p:txBody>
          <a:bodyPr/>
          <a:lstStyle/>
          <a:p>
            <a:r>
              <a:rPr lang="en-US"/>
              <a:t>11/9/2025</a:t>
            </a:r>
          </a:p>
        </p:txBody>
      </p:sp>
      <p:sp>
        <p:nvSpPr>
          <p:cNvPr id="6" name="Footer Placeholder 5">
            <a:extLst>
              <a:ext uri="{FF2B5EF4-FFF2-40B4-BE49-F238E27FC236}">
                <a16:creationId xmlns:a16="http://schemas.microsoft.com/office/drawing/2014/main" id="{AEDEF5BA-B40F-C49C-5D14-790EACA12B23}"/>
              </a:ext>
            </a:extLst>
          </p:cNvPr>
          <p:cNvSpPr>
            <a:spLocks noGrp="1"/>
          </p:cNvSpPr>
          <p:nvPr>
            <p:ph type="ftr" sz="quarter" idx="11"/>
          </p:nvPr>
        </p:nvSpPr>
        <p:spPr/>
        <p:txBody>
          <a:bodyPr/>
          <a:lstStyle/>
          <a:p>
            <a:r>
              <a:rPr lang="en-US"/>
              <a:t>Batch No.DG-5            Department of CSE</a:t>
            </a:r>
          </a:p>
        </p:txBody>
      </p:sp>
      <p:sp>
        <p:nvSpPr>
          <p:cNvPr id="7" name="Slide Number Placeholder 6">
            <a:extLst>
              <a:ext uri="{FF2B5EF4-FFF2-40B4-BE49-F238E27FC236}">
                <a16:creationId xmlns:a16="http://schemas.microsoft.com/office/drawing/2014/main" id="{B91B6633-4F09-2C1C-263C-04F6E09B6FA9}"/>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345332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9869C-B61E-3CA6-EC51-17873EFE73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181E51-42DC-7911-D6C7-CBADEEFDBD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FE589-2EA9-D2A5-784C-BB8EC4D668D8}"/>
              </a:ext>
            </a:extLst>
          </p:cNvPr>
          <p:cNvSpPr>
            <a:spLocks noGrp="1"/>
          </p:cNvSpPr>
          <p:nvPr>
            <p:ph type="dt" sz="half" idx="10"/>
          </p:nvPr>
        </p:nvSpPr>
        <p:spPr/>
        <p:txBody>
          <a:bodyPr/>
          <a:lstStyle/>
          <a:p>
            <a:r>
              <a:rPr lang="en-US"/>
              <a:t>11/9/2025</a:t>
            </a:r>
          </a:p>
        </p:txBody>
      </p:sp>
      <p:sp>
        <p:nvSpPr>
          <p:cNvPr id="5" name="Footer Placeholder 4">
            <a:extLst>
              <a:ext uri="{FF2B5EF4-FFF2-40B4-BE49-F238E27FC236}">
                <a16:creationId xmlns:a16="http://schemas.microsoft.com/office/drawing/2014/main" id="{418A984F-CE2F-5E9E-A3B3-BA2053CEC1D8}"/>
              </a:ext>
            </a:extLst>
          </p:cNvPr>
          <p:cNvSpPr>
            <a:spLocks noGrp="1"/>
          </p:cNvSpPr>
          <p:nvPr>
            <p:ph type="ftr" sz="quarter" idx="11"/>
          </p:nvPr>
        </p:nvSpPr>
        <p:spPr/>
        <p:txBody>
          <a:bodyPr/>
          <a:lstStyle/>
          <a:p>
            <a:r>
              <a:rPr lang="en-US"/>
              <a:t>Batch No.DG-5            Department of CSE</a:t>
            </a:r>
          </a:p>
        </p:txBody>
      </p:sp>
      <p:sp>
        <p:nvSpPr>
          <p:cNvPr id="6" name="Slide Number Placeholder 5">
            <a:extLst>
              <a:ext uri="{FF2B5EF4-FFF2-40B4-BE49-F238E27FC236}">
                <a16:creationId xmlns:a16="http://schemas.microsoft.com/office/drawing/2014/main" id="{9132DFAF-8121-FD16-84A9-3891E4126A63}"/>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1884596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0C7DDA-D8DF-6370-EC40-1CFE2FD03F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FBD32C-DA03-62A5-955B-BCAC7FA1D9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56135-36F5-608F-04F2-DBA1ED017CAE}"/>
              </a:ext>
            </a:extLst>
          </p:cNvPr>
          <p:cNvSpPr>
            <a:spLocks noGrp="1"/>
          </p:cNvSpPr>
          <p:nvPr>
            <p:ph type="dt" sz="half" idx="10"/>
          </p:nvPr>
        </p:nvSpPr>
        <p:spPr/>
        <p:txBody>
          <a:bodyPr/>
          <a:lstStyle/>
          <a:p>
            <a:r>
              <a:rPr lang="en-US"/>
              <a:t>11/9/2025</a:t>
            </a:r>
          </a:p>
        </p:txBody>
      </p:sp>
      <p:sp>
        <p:nvSpPr>
          <p:cNvPr id="5" name="Footer Placeholder 4">
            <a:extLst>
              <a:ext uri="{FF2B5EF4-FFF2-40B4-BE49-F238E27FC236}">
                <a16:creationId xmlns:a16="http://schemas.microsoft.com/office/drawing/2014/main" id="{C0590E82-ACDA-E690-75E1-A5EA20DE8ABF}"/>
              </a:ext>
            </a:extLst>
          </p:cNvPr>
          <p:cNvSpPr>
            <a:spLocks noGrp="1"/>
          </p:cNvSpPr>
          <p:nvPr>
            <p:ph type="ftr" sz="quarter" idx="11"/>
          </p:nvPr>
        </p:nvSpPr>
        <p:spPr/>
        <p:txBody>
          <a:bodyPr/>
          <a:lstStyle/>
          <a:p>
            <a:r>
              <a:rPr lang="en-US"/>
              <a:t>Batch No.DG-5            Department of CSE</a:t>
            </a:r>
          </a:p>
        </p:txBody>
      </p:sp>
      <p:sp>
        <p:nvSpPr>
          <p:cNvPr id="6" name="Slide Number Placeholder 5">
            <a:extLst>
              <a:ext uri="{FF2B5EF4-FFF2-40B4-BE49-F238E27FC236}">
                <a16:creationId xmlns:a16="http://schemas.microsoft.com/office/drawing/2014/main" id="{7AB8144E-DEC9-533B-9488-E2320DC472A0}"/>
              </a:ext>
            </a:extLst>
          </p:cNvPr>
          <p:cNvSpPr>
            <a:spLocks noGrp="1"/>
          </p:cNvSpPr>
          <p:nvPr>
            <p:ph type="sldNum" sz="quarter" idx="12"/>
          </p:nvPr>
        </p:nvSpPr>
        <p:spPr/>
        <p:txBody>
          <a:bodyPr/>
          <a:lstStyle/>
          <a:p>
            <a:fld id="{6B82C8B7-D441-41F7-9F8A-3B05A8FD01D1}" type="slidenum">
              <a:rPr lang="en-US" smtClean="0"/>
              <a:t>‹#›</a:t>
            </a:fld>
            <a:endParaRPr lang="en-US"/>
          </a:p>
        </p:txBody>
      </p:sp>
    </p:spTree>
    <p:extLst>
      <p:ext uri="{BB962C8B-B14F-4D97-AF65-F5344CB8AC3E}">
        <p14:creationId xmlns:p14="http://schemas.microsoft.com/office/powerpoint/2010/main" val="372047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A9A2D4-1CA8-ECC8-32C7-293E52520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8F82C7-D772-415D-DAE1-0FA9A007B3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1D3A8F0-CEDB-CA6C-6DDC-B3686E151E19}"/>
              </a:ext>
            </a:extLst>
          </p:cNvPr>
          <p:cNvSpPr>
            <a:spLocks noGrp="1"/>
          </p:cNvSpPr>
          <p:nvPr>
            <p:ph type="dt" sz="half" idx="2"/>
          </p:nvPr>
        </p:nvSpPr>
        <p:spPr>
          <a:xfrm>
            <a:off x="838200" y="6354999"/>
            <a:ext cx="2743200" cy="365125"/>
          </a:xfrm>
          <a:prstGeom prst="rect">
            <a:avLst/>
          </a:prstGeom>
        </p:spPr>
        <p:txBody>
          <a:bodyPr vert="horz" lIns="91440" tIns="45720" rIns="91440" bIns="45720" rtlCol="0" anchor="ctr"/>
          <a:lstStyle>
            <a:lvl1pPr algn="l">
              <a:defRPr sz="1200">
                <a:solidFill>
                  <a:schemeClr val="tx1">
                    <a:lumMod val="50000"/>
                    <a:lumOff val="50000"/>
                  </a:schemeClr>
                </a:solidFill>
                <a:latin typeface="Times New Roman" panose="02020603050405020304" pitchFamily="18" charset="0"/>
                <a:cs typeface="Times New Roman" panose="02020603050405020304" pitchFamily="18" charset="0"/>
              </a:defRPr>
            </a:lvl1pPr>
          </a:lstStyle>
          <a:p>
            <a:r>
              <a:rPr lang="en-US"/>
              <a:t>11/9/2025</a:t>
            </a:r>
            <a:endParaRPr lang="en-US" dirty="0"/>
          </a:p>
        </p:txBody>
      </p:sp>
      <p:sp>
        <p:nvSpPr>
          <p:cNvPr id="5" name="Footer Placeholder 4">
            <a:extLst>
              <a:ext uri="{FF2B5EF4-FFF2-40B4-BE49-F238E27FC236}">
                <a16:creationId xmlns:a16="http://schemas.microsoft.com/office/drawing/2014/main" id="{E2AC69CF-4862-EE73-DC16-DA59068E6A22}"/>
              </a:ext>
            </a:extLst>
          </p:cNvPr>
          <p:cNvSpPr>
            <a:spLocks noGrp="1"/>
          </p:cNvSpPr>
          <p:nvPr>
            <p:ph type="ftr" sz="quarter" idx="3"/>
          </p:nvPr>
        </p:nvSpPr>
        <p:spPr>
          <a:xfrm>
            <a:off x="3920247" y="6356349"/>
            <a:ext cx="4233153" cy="365125"/>
          </a:xfrm>
          <a:prstGeom prst="rect">
            <a:avLst/>
          </a:prstGeom>
        </p:spPr>
        <p:txBody>
          <a:bodyPr vert="horz" lIns="91440" tIns="45720" rIns="91440" bIns="45720" rtlCol="0" anchor="ctr"/>
          <a:lstStyle>
            <a:lvl1pPr algn="ctr">
              <a:defRPr sz="1200">
                <a:solidFill>
                  <a:schemeClr val="tx1">
                    <a:lumMod val="50000"/>
                    <a:lumOff val="50000"/>
                  </a:schemeClr>
                </a:solidFill>
                <a:latin typeface="Times New Roman" panose="02020603050405020304" pitchFamily="18" charset="0"/>
                <a:cs typeface="Times New Roman" panose="02020603050405020304" pitchFamily="18" charset="0"/>
              </a:defRPr>
            </a:lvl1pPr>
          </a:lstStyle>
          <a:p>
            <a:r>
              <a:rPr lang="en-US"/>
              <a:t>Batch No.DG-5            Department of CSE</a:t>
            </a:r>
            <a:endParaRPr lang="en-US" dirty="0"/>
          </a:p>
        </p:txBody>
      </p:sp>
      <p:sp>
        <p:nvSpPr>
          <p:cNvPr id="6" name="Slide Number Placeholder 5">
            <a:extLst>
              <a:ext uri="{FF2B5EF4-FFF2-40B4-BE49-F238E27FC236}">
                <a16:creationId xmlns:a16="http://schemas.microsoft.com/office/drawing/2014/main" id="{7E37E15C-1CC7-67CC-5F74-C50F1E2D6A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82C8B7-D441-41F7-9F8A-3B05A8FD01D1}" type="slidenum">
              <a:rPr lang="en-US" smtClean="0"/>
              <a:t>‹#›</a:t>
            </a:fld>
            <a:endParaRPr lang="en-US" dirty="0"/>
          </a:p>
        </p:txBody>
      </p:sp>
    </p:spTree>
    <p:extLst>
      <p:ext uri="{BB962C8B-B14F-4D97-AF65-F5344CB8AC3E}">
        <p14:creationId xmlns:p14="http://schemas.microsoft.com/office/powerpoint/2010/main" val="771283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ps://ieeexplore.ieee.or%20g/document/10056818" TargetMode="External"/><Relationship Id="rId3" Type="http://schemas.openxmlformats.org/officeDocument/2006/relationships/image" Target="../media/image1.png"/><Relationship Id="rId7" Type="http://schemas.openxmlformats.org/officeDocument/2006/relationships/hyperlink" Target="hps://ieeexplore.ieee.or%20g/document/10142022"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ps://ieeexplore.ieee.or%20g/document/10679183" TargetMode="External"/><Relationship Id="rId5" Type="http://schemas.openxmlformats.org/officeDocument/2006/relationships/hyperlink" Target="hps://ieeexplore.ieee.or%20g/document/10767234" TargetMode="External"/><Relationship Id="rId4" Type="http://schemas.openxmlformats.org/officeDocument/2006/relationships/hyperlink" Target="hps://ieeexplore.ieee.or%20g/document/1008138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ieeexplore.ieee.org/document/10870163" TargetMode="External"/><Relationship Id="rId4" Type="http://schemas.openxmlformats.org/officeDocument/2006/relationships/hyperlink" Target="2026_DG_5.pptx"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AI-generated content may be incorrect.">
            <a:extLst>
              <a:ext uri="{FF2B5EF4-FFF2-40B4-BE49-F238E27FC236}">
                <a16:creationId xmlns:a16="http://schemas.microsoft.com/office/drawing/2014/main" id="{74C78683-5508-FBCD-60B9-41D06AA19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3989200" cy="717754"/>
          </a:xfrm>
          <a:prstGeom prst="rect">
            <a:avLst/>
          </a:prstGeom>
        </p:spPr>
      </p:pic>
      <p:sp>
        <p:nvSpPr>
          <p:cNvPr id="15" name="TextBox 14">
            <a:extLst>
              <a:ext uri="{FF2B5EF4-FFF2-40B4-BE49-F238E27FC236}">
                <a16:creationId xmlns:a16="http://schemas.microsoft.com/office/drawing/2014/main" id="{B0BF854F-EBA5-B00F-DD25-BD1FE3FF797E}"/>
              </a:ext>
            </a:extLst>
          </p:cNvPr>
          <p:cNvSpPr txBox="1"/>
          <p:nvPr/>
        </p:nvSpPr>
        <p:spPr>
          <a:xfrm>
            <a:off x="2557230" y="599100"/>
            <a:ext cx="7787149"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Department of Computer </a:t>
            </a:r>
            <a:r>
              <a:rPr lang="en-US" sz="2400" b="1" dirty="0">
                <a:latin typeface="Times New Roman" panose="02020603050405020304" pitchFamily="18" charset="0"/>
                <a:cs typeface="Times New Roman" panose="02020603050405020304" pitchFamily="18" charset="0"/>
              </a:rPr>
              <a:t>Science</a:t>
            </a:r>
            <a:r>
              <a:rPr lang="en-US" sz="28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and</a:t>
            </a:r>
            <a:r>
              <a:rPr lang="en-US" sz="28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Engineering</a:t>
            </a:r>
            <a:endParaRPr lang="en-US" sz="28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BBE8444-895C-AF5C-81C4-38869A091E71}"/>
              </a:ext>
            </a:extLst>
          </p:cNvPr>
          <p:cNvSpPr txBox="1"/>
          <p:nvPr/>
        </p:nvSpPr>
        <p:spPr>
          <a:xfrm>
            <a:off x="5003222" y="2113235"/>
            <a:ext cx="218555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PRESENTED BY</a:t>
            </a:r>
          </a:p>
        </p:txBody>
      </p:sp>
      <p:sp>
        <p:nvSpPr>
          <p:cNvPr id="2" name="TextBox 1">
            <a:extLst>
              <a:ext uri="{FF2B5EF4-FFF2-40B4-BE49-F238E27FC236}">
                <a16:creationId xmlns:a16="http://schemas.microsoft.com/office/drawing/2014/main" id="{1355C460-8FA0-3281-180E-BC8A7CBD0B54}"/>
              </a:ext>
            </a:extLst>
          </p:cNvPr>
          <p:cNvSpPr txBox="1"/>
          <p:nvPr/>
        </p:nvSpPr>
        <p:spPr>
          <a:xfrm>
            <a:off x="3464517" y="1115998"/>
            <a:ext cx="5972573" cy="954107"/>
          </a:xfrm>
          <a:prstGeom prst="rect">
            <a:avLst/>
          </a:prstGeom>
          <a:noFill/>
        </p:spPr>
        <p:txBody>
          <a:bodyPr wrap="square" rtlCol="0">
            <a:spAutoFit/>
          </a:bodyPr>
          <a:lstStyle/>
          <a:p>
            <a:pPr algn="ctr"/>
            <a:r>
              <a:rPr lang="en-US" sz="2800" b="1">
                <a:solidFill>
                  <a:srgbClr val="FF0000"/>
                </a:solidFill>
                <a:latin typeface="Times New Roman" panose="02020603050405020304" pitchFamily="18" charset="0"/>
                <a:cs typeface="Times New Roman" panose="02020603050405020304" pitchFamily="18" charset="0"/>
              </a:rPr>
              <a:t>Earthquake Prediction Using Deep Learning with Spatiotemporal Priors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238E780-CFEF-7E08-6C80-5FB60EAFD0EF}"/>
              </a:ext>
            </a:extLst>
          </p:cNvPr>
          <p:cNvSpPr txBox="1"/>
          <p:nvPr/>
        </p:nvSpPr>
        <p:spPr>
          <a:xfrm>
            <a:off x="2005275" y="3302862"/>
            <a:ext cx="3433188"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CHAGANTI REETHIKA REDDY</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B3503E-0226-6D0C-1A22-3B9BA93FA661}"/>
              </a:ext>
            </a:extLst>
          </p:cNvPr>
          <p:cNvSpPr txBox="1"/>
          <p:nvPr/>
        </p:nvSpPr>
        <p:spPr>
          <a:xfrm>
            <a:off x="6850192" y="3253403"/>
            <a:ext cx="1704109"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23475A0509</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6C38405-F5F0-D3A5-20A6-59486F1C3E19}"/>
              </a:ext>
            </a:extLst>
          </p:cNvPr>
          <p:cNvSpPr txBox="1"/>
          <p:nvPr/>
        </p:nvSpPr>
        <p:spPr>
          <a:xfrm>
            <a:off x="1950412" y="2943355"/>
            <a:ext cx="1826341"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TADI ANUSHA</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B43D00B-74A1-557F-D692-F5A6862FA869}"/>
              </a:ext>
            </a:extLst>
          </p:cNvPr>
          <p:cNvSpPr txBox="1"/>
          <p:nvPr/>
        </p:nvSpPr>
        <p:spPr>
          <a:xfrm>
            <a:off x="6850192" y="2841360"/>
            <a:ext cx="1704109"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22471A05O4</a:t>
            </a: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8A475E6-90EC-A2AE-7FE7-02CFE40CA82C}"/>
              </a:ext>
            </a:extLst>
          </p:cNvPr>
          <p:cNvSpPr txBox="1"/>
          <p:nvPr/>
        </p:nvSpPr>
        <p:spPr>
          <a:xfrm>
            <a:off x="2005275" y="2574023"/>
            <a:ext cx="3657861" cy="369332"/>
          </a:xfrm>
          <a:prstGeom prst="rect">
            <a:avLst/>
          </a:prstGeom>
          <a:noFill/>
        </p:spPr>
        <p:txBody>
          <a:bodyPr wrap="none" rtlCol="0">
            <a:spAutoFit/>
          </a:bodyPr>
          <a:lstStyle/>
          <a:p>
            <a:pPr algn="ctr"/>
            <a:r>
              <a:rPr lang="en-US">
                <a:latin typeface="Times New Roman" panose="02020603050405020304" pitchFamily="18" charset="0"/>
                <a:cs typeface="Times New Roman" panose="02020603050405020304" pitchFamily="18" charset="0"/>
              </a:rPr>
              <a:t>AMMISETTY CHAMUNDESWARI</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2AB48A7-63AB-283A-BBD5-D66C935C769D}"/>
              </a:ext>
            </a:extLst>
          </p:cNvPr>
          <p:cNvSpPr txBox="1"/>
          <p:nvPr/>
        </p:nvSpPr>
        <p:spPr>
          <a:xfrm>
            <a:off x="6850194" y="2551488"/>
            <a:ext cx="1827935"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22471A05L1</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1CBFC84-FF9C-9712-6BF1-CD72E33FD835}"/>
              </a:ext>
            </a:extLst>
          </p:cNvPr>
          <p:cNvSpPr txBox="1"/>
          <p:nvPr/>
        </p:nvSpPr>
        <p:spPr>
          <a:xfrm>
            <a:off x="4700052" y="3737126"/>
            <a:ext cx="3064109" cy="400110"/>
          </a:xfrm>
          <a:prstGeom prst="rect">
            <a:avLst/>
          </a:prstGeom>
          <a:noFill/>
        </p:spPr>
        <p:txBody>
          <a:bodyPr wrap="square" rtlCol="0">
            <a:spAutoFit/>
          </a:bodyPr>
          <a:lstStyle/>
          <a:p>
            <a:pPr algn="ctr"/>
            <a:r>
              <a:rPr lang="en-US" sz="2000" dirty="0">
                <a:solidFill>
                  <a:schemeClr val="accent6"/>
                </a:solidFill>
                <a:latin typeface="Times New Roman" panose="02020603050405020304" pitchFamily="18" charset="0"/>
                <a:cs typeface="Times New Roman" panose="02020603050405020304" pitchFamily="18" charset="0"/>
              </a:rPr>
              <a:t>Under the Guidance of,</a:t>
            </a:r>
          </a:p>
        </p:txBody>
      </p:sp>
      <p:sp>
        <p:nvSpPr>
          <p:cNvPr id="16" name="TextBox 15">
            <a:extLst>
              <a:ext uri="{FF2B5EF4-FFF2-40B4-BE49-F238E27FC236}">
                <a16:creationId xmlns:a16="http://schemas.microsoft.com/office/drawing/2014/main" id="{0EDA18A4-5EB8-3848-3ECB-DF30414F64A3}"/>
              </a:ext>
            </a:extLst>
          </p:cNvPr>
          <p:cNvSpPr txBox="1"/>
          <p:nvPr/>
        </p:nvSpPr>
        <p:spPr>
          <a:xfrm>
            <a:off x="4207912" y="4125039"/>
            <a:ext cx="4048388" cy="400110"/>
          </a:xfrm>
          <a:prstGeom prst="rect">
            <a:avLst/>
          </a:prstGeom>
          <a:noFill/>
        </p:spPr>
        <p:txBody>
          <a:bodyPr wrap="square" rtlCol="0">
            <a:spAutoFit/>
          </a:bodyPr>
          <a:lstStyle/>
          <a:p>
            <a:pPr algn="ctr"/>
            <a:r>
              <a:rPr lang="en-US" sz="2000" b="1">
                <a:latin typeface="Times New Roman" panose="02020603050405020304" pitchFamily="18" charset="0"/>
                <a:cs typeface="Times New Roman" panose="02020603050405020304" pitchFamily="18" charset="0"/>
              </a:rPr>
              <a:t>Nukala.Vijaya Kumar </a:t>
            </a:r>
            <a:endParaRPr lang="en-US"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A2DA3F1-976D-573B-AD65-0F22733102A1}"/>
              </a:ext>
            </a:extLst>
          </p:cNvPr>
          <p:cNvSpPr txBox="1"/>
          <p:nvPr/>
        </p:nvSpPr>
        <p:spPr>
          <a:xfrm>
            <a:off x="7426043" y="4279893"/>
            <a:ext cx="676235" cy="297517"/>
          </a:xfrm>
          <a:prstGeom prst="rect">
            <a:avLst/>
          </a:prstGeom>
          <a:noFill/>
        </p:spPr>
        <p:txBody>
          <a:bodyPr wrap="square" rtlCol="0">
            <a:spAutoFit/>
          </a:bodyPr>
          <a:lstStyle/>
          <a:p>
            <a:r>
              <a:rPr lang="en-US" sz="2000" baseline="-25000">
                <a:latin typeface="Times New Roman" panose="02020603050405020304" pitchFamily="18" charset="0"/>
                <a:ea typeface="Tahoma" panose="020B0604030504040204" pitchFamily="34" charset="0"/>
                <a:cs typeface="Times New Roman" panose="02020603050405020304" pitchFamily="18" charset="0"/>
              </a:rPr>
              <a:t>M.E</a:t>
            </a:r>
            <a:endParaRPr lang="en-US" sz="2000" baseline="-25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FEE2CE0-50A3-D1D3-0C73-0756E648893C}"/>
              </a:ext>
            </a:extLst>
          </p:cNvPr>
          <p:cNvSpPr txBox="1"/>
          <p:nvPr/>
        </p:nvSpPr>
        <p:spPr>
          <a:xfrm>
            <a:off x="5165805" y="4530897"/>
            <a:ext cx="2337955" cy="400110"/>
          </a:xfrm>
          <a:prstGeom prst="rect">
            <a:avLst/>
          </a:prstGeom>
          <a:noFill/>
        </p:spPr>
        <p:txBody>
          <a:bodyPr wrap="square" rtlCol="0">
            <a:spAutoFit/>
          </a:bodyPr>
          <a:lstStyle/>
          <a:p>
            <a:pPr algn="ctr"/>
            <a:r>
              <a:rPr lang="en-US">
                <a:solidFill>
                  <a:schemeClr val="tx1">
                    <a:lumMod val="50000"/>
                    <a:lumOff val="50000"/>
                  </a:schemeClr>
                </a:solidFill>
                <a:latin typeface="Times New Roman" panose="02020603050405020304" pitchFamily="18" charset="0"/>
                <a:cs typeface="Times New Roman" panose="02020603050405020304" pitchFamily="18" charset="0"/>
              </a:rPr>
              <a:t>Assistant </a:t>
            </a:r>
            <a:r>
              <a:rPr lang="en-US" dirty="0">
                <a:solidFill>
                  <a:schemeClr val="tx1">
                    <a:lumMod val="50000"/>
                    <a:lumOff val="50000"/>
                  </a:schemeClr>
                </a:solidFill>
                <a:latin typeface="Times New Roman" panose="02020603050405020304" pitchFamily="18" charset="0"/>
                <a:cs typeface="Times New Roman" panose="02020603050405020304" pitchFamily="18" charset="0"/>
              </a:rPr>
              <a:t>P</a:t>
            </a:r>
            <a:r>
              <a:rPr lang="en-US">
                <a:solidFill>
                  <a:schemeClr val="tx1">
                    <a:lumMod val="50000"/>
                    <a:lumOff val="50000"/>
                  </a:schemeClr>
                </a:solidFill>
                <a:latin typeface="Times New Roman" panose="02020603050405020304" pitchFamily="18" charset="0"/>
                <a:cs typeface="Times New Roman" panose="02020603050405020304" pitchFamily="18" charset="0"/>
              </a:rPr>
              <a:t>rofessor</a:t>
            </a:r>
            <a:r>
              <a:rPr lang="en-US" sz="2000" dirty="0">
                <a:solidFill>
                  <a:schemeClr val="tx1">
                    <a:lumMod val="50000"/>
                    <a:lumOff val="50000"/>
                  </a:schemeClr>
                </a:solidFill>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CCE2B848-DCDB-D416-AED4-8286FB7B4314}"/>
              </a:ext>
            </a:extLst>
          </p:cNvPr>
          <p:cNvSpPr txBox="1"/>
          <p:nvPr/>
        </p:nvSpPr>
        <p:spPr>
          <a:xfrm>
            <a:off x="3624291" y="4960907"/>
            <a:ext cx="5331676" cy="400110"/>
          </a:xfrm>
          <a:prstGeom prst="rect">
            <a:avLst/>
          </a:prstGeom>
          <a:noFill/>
        </p:spPr>
        <p:txBody>
          <a:bodyPr wrap="square" rtlCol="0">
            <a:spAutoFit/>
          </a:bodyPr>
          <a:lstStyle/>
          <a:p>
            <a:pPr algn="ctr"/>
            <a:r>
              <a:rPr lang="en-US" sz="2000" dirty="0">
                <a:solidFill>
                  <a:schemeClr val="tx1">
                    <a:lumMod val="50000"/>
                    <a:lumOff val="50000"/>
                  </a:schemeClr>
                </a:solidFill>
                <a:latin typeface="Times New Roman" panose="02020603050405020304" pitchFamily="18" charset="0"/>
                <a:cs typeface="Times New Roman" panose="02020603050405020304" pitchFamily="18" charset="0"/>
              </a:rPr>
              <a:t>Department of Computer </a:t>
            </a:r>
            <a:r>
              <a:rPr lang="en-US" dirty="0">
                <a:solidFill>
                  <a:schemeClr val="tx1">
                    <a:lumMod val="50000"/>
                    <a:lumOff val="50000"/>
                  </a:schemeClr>
                </a:solidFill>
                <a:latin typeface="Times New Roman" panose="02020603050405020304" pitchFamily="18" charset="0"/>
                <a:cs typeface="Times New Roman" panose="02020603050405020304" pitchFamily="18" charset="0"/>
              </a:rPr>
              <a:t>Science</a:t>
            </a:r>
            <a:r>
              <a:rPr lang="en-US" sz="2000" dirty="0">
                <a:solidFill>
                  <a:schemeClr val="tx1">
                    <a:lumMod val="50000"/>
                    <a:lumOff val="50000"/>
                  </a:schemeClr>
                </a:solidFill>
                <a:latin typeface="Times New Roman" panose="02020603050405020304" pitchFamily="18" charset="0"/>
                <a:cs typeface="Times New Roman" panose="02020603050405020304" pitchFamily="18" charset="0"/>
              </a:rPr>
              <a:t> and </a:t>
            </a:r>
            <a:r>
              <a:rPr lang="en-US" dirty="0">
                <a:solidFill>
                  <a:schemeClr val="tx1">
                    <a:lumMod val="50000"/>
                    <a:lumOff val="50000"/>
                  </a:schemeClr>
                </a:solidFill>
                <a:latin typeface="Times New Roman" panose="02020603050405020304" pitchFamily="18" charset="0"/>
                <a:cs typeface="Times New Roman" panose="02020603050405020304" pitchFamily="18" charset="0"/>
              </a:rPr>
              <a:t>Engineering,</a:t>
            </a:r>
            <a:endParaRPr lang="en-US" sz="20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B5240234-6EB3-0F1C-E22B-993C8A6576E2}"/>
              </a:ext>
            </a:extLst>
          </p:cNvPr>
          <p:cNvSpPr txBox="1"/>
          <p:nvPr/>
        </p:nvSpPr>
        <p:spPr>
          <a:xfrm>
            <a:off x="3622894" y="5353621"/>
            <a:ext cx="5381821" cy="369332"/>
          </a:xfrm>
          <a:prstGeom prst="rect">
            <a:avLst/>
          </a:prstGeom>
          <a:noFill/>
        </p:spPr>
        <p:txBody>
          <a:bodyPr wrap="square" rtlCol="0">
            <a:spAutoFit/>
          </a:bodyPr>
          <a:lstStyle/>
          <a:p>
            <a:pPr algn="ctr"/>
            <a:r>
              <a:rPr lang="en-US" dirty="0">
                <a:solidFill>
                  <a:schemeClr val="tx1">
                    <a:lumMod val="50000"/>
                    <a:lumOff val="50000"/>
                  </a:schemeClr>
                </a:solidFill>
                <a:latin typeface="Times New Roman" panose="02020603050405020304" pitchFamily="18" charset="0"/>
                <a:cs typeface="Times New Roman" panose="02020603050405020304" pitchFamily="18" charset="0"/>
              </a:rPr>
              <a:t>Narasaraopeta Engineering College (Autonomous),</a:t>
            </a:r>
          </a:p>
        </p:txBody>
      </p:sp>
      <p:sp>
        <p:nvSpPr>
          <p:cNvPr id="18" name="TextBox 17">
            <a:extLst>
              <a:ext uri="{FF2B5EF4-FFF2-40B4-BE49-F238E27FC236}">
                <a16:creationId xmlns:a16="http://schemas.microsoft.com/office/drawing/2014/main" id="{7A7BE3DD-7E26-F26A-5F50-57605E969C97}"/>
              </a:ext>
            </a:extLst>
          </p:cNvPr>
          <p:cNvSpPr txBox="1"/>
          <p:nvPr/>
        </p:nvSpPr>
        <p:spPr>
          <a:xfrm>
            <a:off x="4744776" y="5690974"/>
            <a:ext cx="3138055" cy="369332"/>
          </a:xfrm>
          <a:prstGeom prst="rect">
            <a:avLst/>
          </a:prstGeom>
          <a:noFill/>
        </p:spPr>
        <p:txBody>
          <a:bodyPr wrap="square" rtlCol="0">
            <a:spAutoFit/>
          </a:bodyPr>
          <a:lstStyle/>
          <a:p>
            <a:pPr algn="ctr"/>
            <a:r>
              <a:rPr lang="en-US" dirty="0">
                <a:solidFill>
                  <a:schemeClr val="tx1">
                    <a:lumMod val="50000"/>
                    <a:lumOff val="50000"/>
                  </a:schemeClr>
                </a:solidFill>
                <a:latin typeface="Times New Roman" panose="02020603050405020304" pitchFamily="18" charset="0"/>
                <a:cs typeface="Times New Roman" panose="02020603050405020304" pitchFamily="18" charset="0"/>
              </a:rPr>
              <a:t>Narasaraopet- 522 601</a:t>
            </a:r>
            <a:r>
              <a:rPr lang="en-US" dirty="0">
                <a:latin typeface="Times New Roman" panose="02020603050405020304" pitchFamily="18" charset="0"/>
                <a:cs typeface="Times New Roman" panose="02020603050405020304" pitchFamily="18" charset="0"/>
              </a:rPr>
              <a:t>.</a:t>
            </a:r>
          </a:p>
        </p:txBody>
      </p:sp>
      <p:sp>
        <p:nvSpPr>
          <p:cNvPr id="30" name="Footer Placeholder 29">
            <a:extLst>
              <a:ext uri="{FF2B5EF4-FFF2-40B4-BE49-F238E27FC236}">
                <a16:creationId xmlns:a16="http://schemas.microsoft.com/office/drawing/2014/main" id="{8954BBBF-F860-18F4-889F-9E4495FD30CC}"/>
              </a:ext>
            </a:extLst>
          </p:cNvPr>
          <p:cNvSpPr>
            <a:spLocks noGrp="1"/>
          </p:cNvSpPr>
          <p:nvPr>
            <p:ph type="ftr" sz="quarter" idx="11"/>
          </p:nvPr>
        </p:nvSpPr>
        <p:spPr>
          <a:xfrm>
            <a:off x="4038599" y="6356350"/>
            <a:ext cx="4332131" cy="365125"/>
          </a:xfrm>
        </p:spPr>
        <p:txBody>
          <a:bodyPr/>
          <a:lstStyle/>
          <a:p>
            <a:r>
              <a:rPr lang="en-US"/>
              <a:t>Batch No.DG-5            Department of CSE</a:t>
            </a:r>
            <a:endParaRPr lang="en-US" dirty="0"/>
          </a:p>
        </p:txBody>
      </p:sp>
      <p:sp>
        <p:nvSpPr>
          <p:cNvPr id="31" name="Slide Number Placeholder 30">
            <a:extLst>
              <a:ext uri="{FF2B5EF4-FFF2-40B4-BE49-F238E27FC236}">
                <a16:creationId xmlns:a16="http://schemas.microsoft.com/office/drawing/2014/main" id="{0305C54D-FDA5-ACA3-D5D0-F89A19B6744F}"/>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1</a:t>
            </a:fld>
            <a:endParaRPr lang="en-US"/>
          </a:p>
        </p:txBody>
      </p:sp>
    </p:spTree>
    <p:extLst>
      <p:ext uri="{BB962C8B-B14F-4D97-AF65-F5344CB8AC3E}">
        <p14:creationId xmlns:p14="http://schemas.microsoft.com/office/powerpoint/2010/main" val="3177525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logo&#10;&#10;AI-generated content may be incorrect.">
            <a:extLst>
              <a:ext uri="{FF2B5EF4-FFF2-40B4-BE49-F238E27FC236}">
                <a16:creationId xmlns:a16="http://schemas.microsoft.com/office/drawing/2014/main" id="{384C9E75-88A7-093E-5F8C-7E55C85FF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5" name="TextBox 4">
            <a:extLst>
              <a:ext uri="{FF2B5EF4-FFF2-40B4-BE49-F238E27FC236}">
                <a16:creationId xmlns:a16="http://schemas.microsoft.com/office/drawing/2014/main" id="{72E643FE-E86A-48C0-E629-58D2F655C88B}"/>
              </a:ext>
            </a:extLst>
          </p:cNvPr>
          <p:cNvSpPr txBox="1"/>
          <p:nvPr/>
        </p:nvSpPr>
        <p:spPr>
          <a:xfrm>
            <a:off x="5056909" y="717754"/>
            <a:ext cx="207818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OUTLINE</a:t>
            </a:r>
          </a:p>
        </p:txBody>
      </p:sp>
      <p:sp>
        <p:nvSpPr>
          <p:cNvPr id="7" name="TextBox 6">
            <a:extLst>
              <a:ext uri="{FF2B5EF4-FFF2-40B4-BE49-F238E27FC236}">
                <a16:creationId xmlns:a16="http://schemas.microsoft.com/office/drawing/2014/main" id="{E732253A-0E4F-F82B-2129-840F46E44552}"/>
              </a:ext>
            </a:extLst>
          </p:cNvPr>
          <p:cNvSpPr txBox="1"/>
          <p:nvPr/>
        </p:nvSpPr>
        <p:spPr>
          <a:xfrm>
            <a:off x="457200" y="1475509"/>
            <a:ext cx="3721510" cy="440120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 Abstract</a:t>
            </a:r>
          </a:p>
          <a:p>
            <a:r>
              <a:rPr lang="en-US" sz="2000" dirty="0">
                <a:latin typeface="Times New Roman" panose="02020603050405020304" pitchFamily="18" charset="0"/>
                <a:cs typeface="Times New Roman" panose="02020603050405020304" pitchFamily="18" charset="0"/>
              </a:rPr>
              <a:t>2. Introduction</a:t>
            </a:r>
          </a:p>
          <a:p>
            <a:r>
              <a:rPr lang="en-US" sz="2000" dirty="0">
                <a:latin typeface="Times New Roman" panose="02020603050405020304" pitchFamily="18" charset="0"/>
                <a:cs typeface="Times New Roman" panose="02020603050405020304" pitchFamily="18" charset="0"/>
              </a:rPr>
              <a:t>3. Literature Survey</a:t>
            </a:r>
          </a:p>
          <a:p>
            <a:r>
              <a:rPr lang="en-US" sz="2000" dirty="0">
                <a:latin typeface="Times New Roman" panose="02020603050405020304" pitchFamily="18" charset="0"/>
                <a:cs typeface="Times New Roman" panose="02020603050405020304" pitchFamily="18" charset="0"/>
              </a:rPr>
              <a:t>4. Research Gaps</a:t>
            </a:r>
          </a:p>
          <a:p>
            <a:r>
              <a:rPr lang="en-US" sz="2000" dirty="0">
                <a:latin typeface="Times New Roman" panose="02020603050405020304" pitchFamily="18" charset="0"/>
                <a:cs typeface="Times New Roman" panose="02020603050405020304" pitchFamily="18" charset="0"/>
              </a:rPr>
              <a:t>5. Problem Statement</a:t>
            </a:r>
          </a:p>
          <a:p>
            <a:r>
              <a:rPr lang="en-US" sz="2000" dirty="0">
                <a:latin typeface="Times New Roman" panose="02020603050405020304" pitchFamily="18" charset="0"/>
                <a:cs typeface="Times New Roman" panose="02020603050405020304" pitchFamily="18" charset="0"/>
              </a:rPr>
              <a:t>6. Objectives</a:t>
            </a:r>
          </a:p>
          <a:p>
            <a:r>
              <a:rPr lang="en-US" sz="2000" dirty="0">
                <a:latin typeface="Times New Roman" panose="02020603050405020304" pitchFamily="18" charset="0"/>
                <a:cs typeface="Times New Roman" panose="02020603050405020304" pitchFamily="18" charset="0"/>
              </a:rPr>
              <a:t>7. Block Diagram / Flow Diagram</a:t>
            </a:r>
          </a:p>
          <a:p>
            <a:r>
              <a:rPr lang="en-US" sz="2000" dirty="0">
                <a:latin typeface="Times New Roman" panose="02020603050405020304" pitchFamily="18" charset="0"/>
                <a:cs typeface="Times New Roman" panose="02020603050405020304" pitchFamily="18" charset="0"/>
              </a:rPr>
              <a:t>8. Methodology</a:t>
            </a:r>
          </a:p>
          <a:p>
            <a:r>
              <a:rPr lang="en-US" sz="2000" dirty="0">
                <a:latin typeface="Times New Roman" panose="02020603050405020304" pitchFamily="18" charset="0"/>
                <a:cs typeface="Times New Roman" panose="02020603050405020304" pitchFamily="18" charset="0"/>
              </a:rPr>
              <a:t>9. Implementation</a:t>
            </a:r>
          </a:p>
          <a:p>
            <a:r>
              <a:rPr lang="en-US" sz="2000" dirty="0">
                <a:latin typeface="Times New Roman" panose="02020603050405020304" pitchFamily="18" charset="0"/>
                <a:cs typeface="Times New Roman" panose="02020603050405020304" pitchFamily="18" charset="0"/>
              </a:rPr>
              <a:t>10. Results and Analysis</a:t>
            </a:r>
          </a:p>
          <a:p>
            <a:r>
              <a:rPr lang="en-US" sz="2000" dirty="0">
                <a:latin typeface="Times New Roman" panose="02020603050405020304" pitchFamily="18" charset="0"/>
                <a:cs typeface="Times New Roman" panose="02020603050405020304" pitchFamily="18" charset="0"/>
              </a:rPr>
              <a:t>11. Conclusion &amp; Future Scope</a:t>
            </a:r>
          </a:p>
          <a:p>
            <a:r>
              <a:rPr lang="en-US" sz="2000" dirty="0">
                <a:latin typeface="Times New Roman" panose="02020603050405020304" pitchFamily="18" charset="0"/>
                <a:cs typeface="Times New Roman" panose="02020603050405020304" pitchFamily="18" charset="0"/>
              </a:rPr>
              <a:t>12. References</a:t>
            </a:r>
          </a:p>
          <a:p>
            <a:r>
              <a:rPr lang="en-US" sz="2000" dirty="0">
                <a:latin typeface="Times New Roman" panose="02020603050405020304" pitchFamily="18" charset="0"/>
                <a:cs typeface="Times New Roman" panose="02020603050405020304" pitchFamily="18" charset="0"/>
              </a:rPr>
              <a:t>13. Question and Answers</a:t>
            </a:r>
          </a:p>
          <a:p>
            <a:r>
              <a:rPr lang="en-US" sz="2000" dirty="0">
                <a:latin typeface="Times New Roman" panose="02020603050405020304" pitchFamily="18" charset="0"/>
                <a:cs typeface="Times New Roman" panose="02020603050405020304" pitchFamily="18" charset="0"/>
              </a:rPr>
              <a:t>14. Acknowledgements</a:t>
            </a:r>
          </a:p>
        </p:txBody>
      </p:sp>
      <p:sp>
        <p:nvSpPr>
          <p:cNvPr id="15" name="Footer Placeholder 14">
            <a:extLst>
              <a:ext uri="{FF2B5EF4-FFF2-40B4-BE49-F238E27FC236}">
                <a16:creationId xmlns:a16="http://schemas.microsoft.com/office/drawing/2014/main" id="{55950FAE-28D6-49FF-6B35-5A332B7B9EC9}"/>
              </a:ext>
            </a:extLst>
          </p:cNvPr>
          <p:cNvSpPr>
            <a:spLocks noGrp="1"/>
          </p:cNvSpPr>
          <p:nvPr>
            <p:ph type="ftr" sz="quarter" idx="11"/>
          </p:nvPr>
        </p:nvSpPr>
        <p:spPr>
          <a:xfrm>
            <a:off x="4038600" y="6356350"/>
            <a:ext cx="4211782" cy="365125"/>
          </a:xfrm>
        </p:spPr>
        <p:txBody>
          <a:bodyPr/>
          <a:lstStyle/>
          <a:p>
            <a:r>
              <a:rPr lang="en-US"/>
              <a:t>Batch No.DG-5            Department of CSE</a:t>
            </a:r>
          </a:p>
        </p:txBody>
      </p:sp>
      <p:sp>
        <p:nvSpPr>
          <p:cNvPr id="16" name="Slide Number Placeholder 15">
            <a:extLst>
              <a:ext uri="{FF2B5EF4-FFF2-40B4-BE49-F238E27FC236}">
                <a16:creationId xmlns:a16="http://schemas.microsoft.com/office/drawing/2014/main" id="{04DE92F8-24AA-31F1-1618-9E73FC140296}"/>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a:t>
            </a:fld>
            <a:endParaRPr lang="en-US"/>
          </a:p>
        </p:txBody>
      </p:sp>
    </p:spTree>
    <p:extLst>
      <p:ext uri="{BB962C8B-B14F-4D97-AF65-F5344CB8AC3E}">
        <p14:creationId xmlns:p14="http://schemas.microsoft.com/office/powerpoint/2010/main" val="1227647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257299E7-BBE0-1F67-51FD-56D1FE9D25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3BFD3694-7B4A-CEBF-2965-BC8D528CE8AB}"/>
              </a:ext>
            </a:extLst>
          </p:cNvPr>
          <p:cNvSpPr txBox="1"/>
          <p:nvPr/>
        </p:nvSpPr>
        <p:spPr>
          <a:xfrm>
            <a:off x="5025736" y="718535"/>
            <a:ext cx="2140528" cy="800219"/>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ABSTRACT</a:t>
            </a:r>
          </a:p>
          <a:p>
            <a:endParaRPr lang="en-US" dirty="0"/>
          </a:p>
        </p:txBody>
      </p:sp>
      <p:sp>
        <p:nvSpPr>
          <p:cNvPr id="5" name="TextBox 4">
            <a:extLst>
              <a:ext uri="{FF2B5EF4-FFF2-40B4-BE49-F238E27FC236}">
                <a16:creationId xmlns:a16="http://schemas.microsoft.com/office/drawing/2014/main" id="{E7806548-A70B-8F54-A983-1815938D7E48}"/>
              </a:ext>
            </a:extLst>
          </p:cNvPr>
          <p:cNvSpPr txBox="1"/>
          <p:nvPr/>
        </p:nvSpPr>
        <p:spPr>
          <a:xfrm>
            <a:off x="513735" y="1247260"/>
            <a:ext cx="3626427" cy="738664"/>
          </a:xfrm>
          <a:prstGeom prst="rect">
            <a:avLst/>
          </a:prstGeom>
          <a:noFill/>
        </p:spPr>
        <p:txBody>
          <a:bodyPr wrap="square" rtlCol="0">
            <a:spAutoFit/>
          </a:bodyPr>
          <a:lstStyle/>
          <a:p>
            <a:pPr marL="342900" indent="-342900" algn="ct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 of the project</a:t>
            </a:r>
          </a:p>
          <a:p>
            <a:endParaRPr lang="en-US" dirty="0"/>
          </a:p>
        </p:txBody>
      </p:sp>
      <p:sp>
        <p:nvSpPr>
          <p:cNvPr id="18" name="Footer Placeholder 17">
            <a:extLst>
              <a:ext uri="{FF2B5EF4-FFF2-40B4-BE49-F238E27FC236}">
                <a16:creationId xmlns:a16="http://schemas.microsoft.com/office/drawing/2014/main" id="{81DAC419-94A2-CC34-A757-0219D1085086}"/>
              </a:ext>
            </a:extLst>
          </p:cNvPr>
          <p:cNvSpPr>
            <a:spLocks noGrp="1"/>
          </p:cNvSpPr>
          <p:nvPr>
            <p:ph type="ftr" sz="quarter" idx="11"/>
          </p:nvPr>
        </p:nvSpPr>
        <p:spPr>
          <a:xfrm>
            <a:off x="4038600" y="6356350"/>
            <a:ext cx="4211782" cy="365125"/>
          </a:xfrm>
        </p:spPr>
        <p:txBody>
          <a:bodyPr/>
          <a:lstStyle/>
          <a:p>
            <a:r>
              <a:rPr lang="en-US"/>
              <a:t>Batch No.DG-5            Department of CSE</a:t>
            </a:r>
            <a:endParaRPr lang="en-US" dirty="0"/>
          </a:p>
        </p:txBody>
      </p:sp>
      <p:sp>
        <p:nvSpPr>
          <p:cNvPr id="19" name="Slide Number Placeholder 18">
            <a:extLst>
              <a:ext uri="{FF2B5EF4-FFF2-40B4-BE49-F238E27FC236}">
                <a16:creationId xmlns:a16="http://schemas.microsoft.com/office/drawing/2014/main" id="{35BA1CC1-6777-0367-AB55-FD3A3973EB4A}"/>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3</a:t>
            </a:fld>
            <a:endParaRPr lang="en-US"/>
          </a:p>
        </p:txBody>
      </p:sp>
      <p:sp>
        <p:nvSpPr>
          <p:cNvPr id="6" name="TextBox 5">
            <a:extLst>
              <a:ext uri="{FF2B5EF4-FFF2-40B4-BE49-F238E27FC236}">
                <a16:creationId xmlns:a16="http://schemas.microsoft.com/office/drawing/2014/main" id="{4A652264-3F6E-1E25-EC0E-5233CF9C2857}"/>
              </a:ext>
            </a:extLst>
          </p:cNvPr>
          <p:cNvSpPr txBox="1"/>
          <p:nvPr/>
        </p:nvSpPr>
        <p:spPr>
          <a:xfrm>
            <a:off x="1162665" y="1918082"/>
            <a:ext cx="10515600" cy="353943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A unified deep learning model is proposed for rapid earthquake parameter estimation.It jointly predicts magnitude, distance, azimuth, and depth using 3-second waveform data.Combines CNN, BiLSTM, and Transformer layers for rich spatiotemporal feature learning.Handcrafted features and metadata improve model stability and accuracy.Monte Carlo Dropout ensures uncertainty estimation for reliable predictions.Achieves low errors and strong generalization on K-NET and KiK-net datasets, enabling real-time early warning</a:t>
            </a:r>
          </a:p>
        </p:txBody>
      </p:sp>
    </p:spTree>
    <p:extLst>
      <p:ext uri="{BB962C8B-B14F-4D97-AF65-F5344CB8AC3E}">
        <p14:creationId xmlns:p14="http://schemas.microsoft.com/office/powerpoint/2010/main" val="890035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E267BCB5-6CC8-0C61-5F63-B4B6183819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F04BA864-53C8-D107-AC03-23BCDBD81664}"/>
              </a:ext>
            </a:extLst>
          </p:cNvPr>
          <p:cNvSpPr txBox="1"/>
          <p:nvPr/>
        </p:nvSpPr>
        <p:spPr>
          <a:xfrm>
            <a:off x="4655128" y="718535"/>
            <a:ext cx="3138054"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04FFC04B-B41D-1DF8-1A06-CB033CC4CAD8}"/>
              </a:ext>
            </a:extLst>
          </p:cNvPr>
          <p:cNvSpPr txBox="1"/>
          <p:nvPr/>
        </p:nvSpPr>
        <p:spPr>
          <a:xfrm>
            <a:off x="768926" y="1358976"/>
            <a:ext cx="4468091" cy="461665"/>
          </a:xfrm>
          <a:prstGeom prst="rect">
            <a:avLst/>
          </a:prstGeom>
          <a:noFill/>
        </p:spPr>
        <p:txBody>
          <a:bodyPr wrap="square" rtlCol="0">
            <a:spAutoFit/>
          </a:bodyPr>
          <a:lstStyle/>
          <a:p>
            <a:pPr marL="342900" indent="-342900" algn="ct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Brief introduction to the project</a:t>
            </a:r>
          </a:p>
        </p:txBody>
      </p:sp>
      <p:sp>
        <p:nvSpPr>
          <p:cNvPr id="21" name="Footer Placeholder 20">
            <a:extLst>
              <a:ext uri="{FF2B5EF4-FFF2-40B4-BE49-F238E27FC236}">
                <a16:creationId xmlns:a16="http://schemas.microsoft.com/office/drawing/2014/main" id="{4D12F140-2A4E-8428-1211-A4E501073A5F}"/>
              </a:ext>
            </a:extLst>
          </p:cNvPr>
          <p:cNvSpPr>
            <a:spLocks noGrp="1"/>
          </p:cNvSpPr>
          <p:nvPr>
            <p:ph type="ftr" sz="quarter" idx="11"/>
          </p:nvPr>
        </p:nvSpPr>
        <p:spPr>
          <a:xfrm>
            <a:off x="4038599" y="6356350"/>
            <a:ext cx="4253345" cy="365125"/>
          </a:xfrm>
        </p:spPr>
        <p:txBody>
          <a:bodyPr/>
          <a:lstStyle/>
          <a:p>
            <a:r>
              <a:rPr lang="en-US"/>
              <a:t>Batch No.DG-5            Department of CSE</a:t>
            </a:r>
            <a:endParaRPr lang="en-US" dirty="0"/>
          </a:p>
        </p:txBody>
      </p:sp>
      <p:sp>
        <p:nvSpPr>
          <p:cNvPr id="22" name="Slide Number Placeholder 21">
            <a:extLst>
              <a:ext uri="{FF2B5EF4-FFF2-40B4-BE49-F238E27FC236}">
                <a16:creationId xmlns:a16="http://schemas.microsoft.com/office/drawing/2014/main" id="{8AE4DD1F-65C0-336E-BABF-3779197A46C9}"/>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4</a:t>
            </a:fld>
            <a:endParaRPr lang="en-US"/>
          </a:p>
        </p:txBody>
      </p:sp>
      <p:sp>
        <p:nvSpPr>
          <p:cNvPr id="10" name="TextBox 9">
            <a:extLst>
              <a:ext uri="{FF2B5EF4-FFF2-40B4-BE49-F238E27FC236}">
                <a16:creationId xmlns:a16="http://schemas.microsoft.com/office/drawing/2014/main" id="{59D4E557-2535-82B3-864E-FEEED0325AD4}"/>
              </a:ext>
            </a:extLst>
          </p:cNvPr>
          <p:cNvSpPr txBox="1"/>
          <p:nvPr/>
        </p:nvSpPr>
        <p:spPr>
          <a:xfrm>
            <a:off x="1190148" y="1882977"/>
            <a:ext cx="9950246" cy="2308324"/>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project develops a deep learning framework to estimate earthquake parameters directly from raw seismic waveforms.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It combines CNN, BiLSTM, and Transformer layers to capture both short-term and long-range dependencies in seismic signals.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system predicts magnitude, epicentral distance, azimuth, and focal depth within seconds, supporting real-time early warning.</a:t>
            </a:r>
          </a:p>
        </p:txBody>
      </p:sp>
      <p:sp>
        <p:nvSpPr>
          <p:cNvPr id="11" name="TextBox 10">
            <a:extLst>
              <a:ext uri="{FF2B5EF4-FFF2-40B4-BE49-F238E27FC236}">
                <a16:creationId xmlns:a16="http://schemas.microsoft.com/office/drawing/2014/main" id="{74AF1BDE-C30C-AD21-01BD-844A5DF2AD40}"/>
              </a:ext>
            </a:extLst>
          </p:cNvPr>
          <p:cNvSpPr txBox="1"/>
          <p:nvPr/>
        </p:nvSpPr>
        <p:spPr>
          <a:xfrm>
            <a:off x="768926" y="4253637"/>
            <a:ext cx="4253345" cy="461665"/>
          </a:xfrm>
          <a:prstGeom prst="rect">
            <a:avLst/>
          </a:prstGeom>
          <a:noFill/>
        </p:spPr>
        <p:txBody>
          <a:bodyPr wrap="square" rtlCol="0">
            <a:spAutoFit/>
          </a:bodyPr>
          <a:lstStyle/>
          <a:p>
            <a:pPr marL="285750" indent="-28575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Motivation Behind the Project</a:t>
            </a:r>
          </a:p>
        </p:txBody>
      </p:sp>
      <p:sp>
        <p:nvSpPr>
          <p:cNvPr id="12" name="TextBox 11">
            <a:extLst>
              <a:ext uri="{FF2B5EF4-FFF2-40B4-BE49-F238E27FC236}">
                <a16:creationId xmlns:a16="http://schemas.microsoft.com/office/drawing/2014/main" id="{709926F7-3EA9-B6A8-4EB1-642956898260}"/>
              </a:ext>
            </a:extLst>
          </p:cNvPr>
          <p:cNvSpPr txBox="1"/>
          <p:nvPr/>
        </p:nvSpPr>
        <p:spPr>
          <a:xfrm>
            <a:off x="1190148" y="4777638"/>
            <a:ext cx="9950246" cy="646331"/>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Traditional early warning models rely on handcrafted features and empirical rules, which limit speed and adaptability.</a:t>
            </a:r>
          </a:p>
        </p:txBody>
      </p:sp>
    </p:spTree>
    <p:extLst>
      <p:ext uri="{BB962C8B-B14F-4D97-AF65-F5344CB8AC3E}">
        <p14:creationId xmlns:p14="http://schemas.microsoft.com/office/powerpoint/2010/main" val="3367746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1B35F9-8555-DBEE-37E3-C67B0F9722E6}"/>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90AC0CB6-0C5C-F0AB-BAC9-DE133DA85F09}"/>
              </a:ext>
            </a:extLst>
          </p:cNvPr>
          <p:cNvSpPr>
            <a:spLocks noGrp="1"/>
          </p:cNvSpPr>
          <p:nvPr>
            <p:ph type="sldNum" sz="quarter" idx="12"/>
          </p:nvPr>
        </p:nvSpPr>
        <p:spPr/>
        <p:txBody>
          <a:bodyPr/>
          <a:lstStyle/>
          <a:p>
            <a:fld id="{6B82C8B7-D441-41F7-9F8A-3B05A8FD01D1}" type="slidenum">
              <a:rPr lang="en-US" smtClean="0"/>
              <a:t>5</a:t>
            </a:fld>
            <a:endParaRPr lang="en-US"/>
          </a:p>
        </p:txBody>
      </p:sp>
      <p:pic>
        <p:nvPicPr>
          <p:cNvPr id="5" name="Picture 4">
            <a:extLst>
              <a:ext uri="{FF2B5EF4-FFF2-40B4-BE49-F238E27FC236}">
                <a16:creationId xmlns:a16="http://schemas.microsoft.com/office/drawing/2014/main" id="{A9BEB5D1-9A0E-9129-5C4D-0C45DCD504A8}"/>
              </a:ext>
            </a:extLst>
          </p:cNvPr>
          <p:cNvPicPr>
            <a:picLocks noChangeAspect="1"/>
          </p:cNvPicPr>
          <p:nvPr/>
        </p:nvPicPr>
        <p:blipFill>
          <a:blip r:embed="rId2"/>
          <a:stretch>
            <a:fillRect/>
          </a:stretch>
        </p:blipFill>
        <p:spPr>
          <a:xfrm>
            <a:off x="0" y="0"/>
            <a:ext cx="3987130" cy="719390"/>
          </a:xfrm>
          <a:prstGeom prst="rect">
            <a:avLst/>
          </a:prstGeom>
        </p:spPr>
      </p:pic>
      <p:sp>
        <p:nvSpPr>
          <p:cNvPr id="7" name="TextBox 6">
            <a:extLst>
              <a:ext uri="{FF2B5EF4-FFF2-40B4-BE49-F238E27FC236}">
                <a16:creationId xmlns:a16="http://schemas.microsoft.com/office/drawing/2014/main" id="{23C30F45-A7F7-08C2-DFE1-3CB94A424E73}"/>
              </a:ext>
            </a:extLst>
          </p:cNvPr>
          <p:cNvSpPr txBox="1"/>
          <p:nvPr/>
        </p:nvSpPr>
        <p:spPr>
          <a:xfrm>
            <a:off x="1206910" y="1049128"/>
            <a:ext cx="10146890" cy="1200329"/>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Existing systems often show high latency and poor generalization across regions and sensor networks.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need for a faster, unified, and data-driven approach inspired the development of this end-to-end deep learning solution.</a:t>
            </a:r>
          </a:p>
        </p:txBody>
      </p:sp>
      <p:sp>
        <p:nvSpPr>
          <p:cNvPr id="8" name="TextBox 7">
            <a:extLst>
              <a:ext uri="{FF2B5EF4-FFF2-40B4-BE49-F238E27FC236}">
                <a16:creationId xmlns:a16="http://schemas.microsoft.com/office/drawing/2014/main" id="{CA18B8A1-BC22-DF7A-2952-068348FA90F7}"/>
              </a:ext>
            </a:extLst>
          </p:cNvPr>
          <p:cNvSpPr txBox="1"/>
          <p:nvPr/>
        </p:nvSpPr>
        <p:spPr>
          <a:xfrm>
            <a:off x="838200" y="2579195"/>
            <a:ext cx="3834580" cy="461665"/>
          </a:xfrm>
          <a:prstGeom prst="rect">
            <a:avLst/>
          </a:prstGeom>
          <a:noFill/>
        </p:spPr>
        <p:txBody>
          <a:bodyPr wrap="square" rtlCol="0">
            <a:spAutoFit/>
          </a:bodyPr>
          <a:lstStyle/>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Importance and Relevance</a:t>
            </a:r>
          </a:p>
        </p:txBody>
      </p:sp>
      <p:sp>
        <p:nvSpPr>
          <p:cNvPr id="9" name="TextBox 8">
            <a:extLst>
              <a:ext uri="{FF2B5EF4-FFF2-40B4-BE49-F238E27FC236}">
                <a16:creationId xmlns:a16="http://schemas.microsoft.com/office/drawing/2014/main" id="{BC86FCC6-556C-F947-097B-92AE2119070A}"/>
              </a:ext>
            </a:extLst>
          </p:cNvPr>
          <p:cNvSpPr txBox="1"/>
          <p:nvPr/>
        </p:nvSpPr>
        <p:spPr>
          <a:xfrm>
            <a:off x="1206910" y="3285890"/>
            <a:ext cx="9694607" cy="2031325"/>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Even a few seconds of early warning can save lives and protect infrastructure in seismic zones.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proposed model’s accuracy, interpretability, and low latency make it ideal for real-time edge deployment.</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It contributes to next-generation Earthquake Early Warning (EEW) systems with improved reliability and transparency</a:t>
            </a:r>
            <a:r>
              <a:rPr lang="en-US"/>
              <a:t>.</a:t>
            </a:r>
          </a:p>
        </p:txBody>
      </p:sp>
    </p:spTree>
    <p:extLst>
      <p:ext uri="{BB962C8B-B14F-4D97-AF65-F5344CB8AC3E}">
        <p14:creationId xmlns:p14="http://schemas.microsoft.com/office/powerpoint/2010/main" val="1943469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2CA5E011-55F0-1D75-F4EE-15691D050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E49B102E-02D4-12C7-EFC6-491EE6F88A20}"/>
              </a:ext>
            </a:extLst>
          </p:cNvPr>
          <p:cNvSpPr txBox="1"/>
          <p:nvPr/>
        </p:nvSpPr>
        <p:spPr>
          <a:xfrm>
            <a:off x="3903280" y="388213"/>
            <a:ext cx="412519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C4CFC146-6679-822C-7DA6-5F6020E2256E}"/>
              </a:ext>
            </a:extLst>
          </p:cNvPr>
          <p:cNvGraphicFramePr>
            <a:graphicFrameLocks noGrp="1"/>
          </p:cNvGraphicFramePr>
          <p:nvPr>
            <p:extLst>
              <p:ext uri="{D42A27DB-BD31-4B8C-83A1-F6EECF244321}">
                <p14:modId xmlns:p14="http://schemas.microsoft.com/office/powerpoint/2010/main" val="2298017409"/>
              </p:ext>
            </p:extLst>
          </p:nvPr>
        </p:nvGraphicFramePr>
        <p:xfrm>
          <a:off x="393122" y="800134"/>
          <a:ext cx="11523520" cy="5473836"/>
        </p:xfrm>
        <a:graphic>
          <a:graphicData uri="http://schemas.openxmlformats.org/drawingml/2006/table">
            <a:tbl>
              <a:tblPr firstRow="1" bandRow="1">
                <a:tableStyleId>{5C22544A-7EE6-4342-B048-85BDC9FD1C3A}</a:tableStyleId>
              </a:tblPr>
              <a:tblGrid>
                <a:gridCol w="960292">
                  <a:extLst>
                    <a:ext uri="{9D8B030D-6E8A-4147-A177-3AD203B41FA5}">
                      <a16:colId xmlns:a16="http://schemas.microsoft.com/office/drawing/2014/main" val="4198733524"/>
                    </a:ext>
                  </a:extLst>
                </a:gridCol>
                <a:gridCol w="1839720">
                  <a:extLst>
                    <a:ext uri="{9D8B030D-6E8A-4147-A177-3AD203B41FA5}">
                      <a16:colId xmlns:a16="http://schemas.microsoft.com/office/drawing/2014/main" val="1541954154"/>
                    </a:ext>
                  </a:extLst>
                </a:gridCol>
                <a:gridCol w="1300096">
                  <a:extLst>
                    <a:ext uri="{9D8B030D-6E8A-4147-A177-3AD203B41FA5}">
                      <a16:colId xmlns:a16="http://schemas.microsoft.com/office/drawing/2014/main" val="2331070903"/>
                    </a:ext>
                  </a:extLst>
                </a:gridCol>
                <a:gridCol w="2551186">
                  <a:extLst>
                    <a:ext uri="{9D8B030D-6E8A-4147-A177-3AD203B41FA5}">
                      <a16:colId xmlns:a16="http://schemas.microsoft.com/office/drawing/2014/main" val="2789329345"/>
                    </a:ext>
                  </a:extLst>
                </a:gridCol>
                <a:gridCol w="1870751">
                  <a:extLst>
                    <a:ext uri="{9D8B030D-6E8A-4147-A177-3AD203B41FA5}">
                      <a16:colId xmlns:a16="http://schemas.microsoft.com/office/drawing/2014/main" val="482863234"/>
                    </a:ext>
                  </a:extLst>
                </a:gridCol>
                <a:gridCol w="1465005">
                  <a:extLst>
                    <a:ext uri="{9D8B030D-6E8A-4147-A177-3AD203B41FA5}">
                      <a16:colId xmlns:a16="http://schemas.microsoft.com/office/drawing/2014/main" val="2789447342"/>
                    </a:ext>
                  </a:extLst>
                </a:gridCol>
                <a:gridCol w="1536470">
                  <a:extLst>
                    <a:ext uri="{9D8B030D-6E8A-4147-A177-3AD203B41FA5}">
                      <a16:colId xmlns:a16="http://schemas.microsoft.com/office/drawing/2014/main" val="1554649309"/>
                    </a:ext>
                  </a:extLst>
                </a:gridCol>
              </a:tblGrid>
              <a:tr h="635392">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b="1" dirty="0">
                          <a:solidFill>
                            <a:schemeClr val="tx1"/>
                          </a:solidFill>
                        </a:rPr>
                        <a:t>Methodology</a:t>
                      </a:r>
                    </a:p>
                    <a:p>
                      <a:pPr algn="ctr"/>
                      <a:r>
                        <a:rPr lang="en-US" b="1" dirty="0">
                          <a:solidFill>
                            <a:schemeClr val="tx1"/>
                          </a:solidFill>
                        </a:rPr>
                        <a:t>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Key Findings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868127632"/>
                  </a:ext>
                </a:extLst>
              </a:tr>
              <a:tr h="1121304">
                <a:tc>
                  <a:txBody>
                    <a:bodyPr/>
                    <a:lstStyle/>
                    <a:p>
                      <a:r>
                        <a:rPr lang="en-US" dirty="0">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Fast Earthquake Magnitude Esmaon Using Lightweight Deep Learning Model</a:t>
                      </a:r>
                      <a:endParaRPr lang="en-US" sz="1400"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nl-NL" sz="1400">
                          <a:latin typeface="Times New Roman" panose="02020603050405020304" pitchFamily="18" charset="0"/>
                          <a:cs typeface="Times New Roman" panose="02020603050405020304" pitchFamily="18" charset="0"/>
                        </a:rPr>
                        <a:t>H. Wang et al., 2024, IEEE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hlinkClick r:id="rId4"/>
                        </a:rPr>
                        <a:t>hps://ieeexplore.ieee.or g/document/10081383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Lightweight CNN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Introduces a low-computaon model for early magnitude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Lacks tesng on real-me deployments and noisy inputs.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2360573"/>
                  </a:ext>
                </a:extLst>
              </a:tr>
              <a:tr h="914748">
                <a:tc>
                  <a:txBody>
                    <a:bodyPr/>
                    <a:lstStyle/>
                    <a:p>
                      <a:r>
                        <a:rPr lang="en-US"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Bayesian-Deep-Learn ing Esmaon from Single-Staon Observaons </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400">
                          <a:latin typeface="Times New Roman" panose="02020603050405020304" pitchFamily="18" charset="0"/>
                          <a:cs typeface="Times New Roman" panose="02020603050405020304" pitchFamily="18" charset="0"/>
                        </a:rPr>
                        <a:t>S. M. Mousavi, G. C. Beroza, 2021, IEEE </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hlinkClick r:id="rId5"/>
                        </a:rPr>
                        <a:t>hps://ieeexplore.ieee.or g/document/10767234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atin typeface="Times New Roman" panose="02020603050405020304" pitchFamily="18" charset="0"/>
                          <a:cs typeface="Times New Roman" panose="02020603050405020304" pitchFamily="18" charset="0"/>
                        </a:rPr>
                        <a:t> </a:t>
                      </a:r>
                      <a:r>
                        <a:rPr lang="en-US" sz="1400">
                          <a:latin typeface="Times New Roman" panose="02020603050405020304" pitchFamily="18" charset="0"/>
                          <a:cs typeface="Times New Roman" panose="02020603050405020304" pitchFamily="18" charset="0"/>
                        </a:rPr>
                        <a:t>Bayesian Neural Networks, TCNs</a:t>
                      </a:r>
                      <a:endParaRPr 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latin typeface="Times New Roman" panose="02020603050405020304" pitchFamily="18" charset="0"/>
                          <a:cs typeface="Times New Roman" panose="02020603050405020304" pitchFamily="18" charset="0"/>
                        </a:rPr>
                        <a:t>Estimates source parameters with uncertainty using single-station input.</a:t>
                      </a:r>
                      <a:endParaRPr 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Does not esmate magnitude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2358239"/>
                  </a:ext>
                </a:extLst>
              </a:tr>
              <a:tr h="1121304">
                <a:tc>
                  <a:txBody>
                    <a:bodyPr/>
                    <a:lstStyle/>
                    <a:p>
                      <a:r>
                        <a:rPr lang="en-US"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Transfer Learning for Magnitude Esmaon with Limited Data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sz="1400">
                          <a:latin typeface="Times New Roman" panose="02020603050405020304" pitchFamily="18" charset="0"/>
                          <a:cs typeface="Times New Roman" panose="02020603050405020304" pitchFamily="18" charset="0"/>
                        </a:rPr>
                        <a:t>M. N. Uddin et al., 2023, IEEE </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hlinkClick r:id="rId6"/>
                        </a:rPr>
                        <a:t>hps://ieeexplore.ieee.or g/document/10679183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CNN with Transfer Learning (ResNet, VGG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Uses pretrained models to predict with small datasets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Limited tesng across regions and networks </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2057868"/>
                  </a:ext>
                </a:extLst>
              </a:tr>
              <a:tr h="914748">
                <a:tc>
                  <a:txBody>
                    <a:bodyPr/>
                    <a:lstStyle/>
                    <a:p>
                      <a:r>
                        <a:rPr lang="en-US"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latin typeface="Times New Roman" panose="02020603050405020304" pitchFamily="18" charset="0"/>
                          <a:cs typeface="Times New Roman" panose="02020603050405020304" pitchFamily="18" charset="0"/>
                        </a:rPr>
                        <a:t>Efficient DL Framework for Earthquake Magnitude Estimation Using Real-Time Seismic Data </a:t>
                      </a:r>
                      <a:endParaRPr 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200">
                          <a:latin typeface="Times New Roman" panose="02020603050405020304" pitchFamily="18" charset="0"/>
                          <a:cs typeface="Times New Roman" panose="02020603050405020304" pitchFamily="18" charset="0"/>
                        </a:rPr>
                        <a:t>F. H. Masoumi, 2023, IEEE</a:t>
                      </a:r>
                      <a:endParaRPr 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hlinkClick r:id="rId7"/>
                        </a:rPr>
                        <a:t>hps://ieeexplore.ieee.or g/document/10142022</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CNN, LSTM, Attention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a:latin typeface="Times New Roman" panose="02020603050405020304" pitchFamily="18" charset="0"/>
                          <a:cs typeface="Times New Roman" panose="02020603050405020304" pitchFamily="18" charset="0"/>
                        </a:rPr>
                        <a:t>Real-me DL model for accurate seismic magnitude esmaon.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latin typeface="Times New Roman" panose="02020603050405020304" pitchFamily="18" charset="0"/>
                          <a:cs typeface="Times New Roman" panose="02020603050405020304" pitchFamily="18" charset="0"/>
                        </a:rPr>
                        <a:t>Not validated under extreme noise and diverse global condions</a:t>
                      </a:r>
                      <a:endParaRPr 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65285403"/>
                  </a:ext>
                </a:extLst>
              </a:tr>
              <a:tr h="644218">
                <a:tc>
                  <a:txBody>
                    <a:bodyPr/>
                    <a:lstStyle/>
                    <a:p>
                      <a:r>
                        <a:rPr lang="en-US"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latin typeface="Times New Roman" panose="02020603050405020304" pitchFamily="18" charset="0"/>
                          <a:cs typeface="Times New Roman" panose="02020603050405020304" pitchFamily="18" charset="0"/>
                        </a:rPr>
                        <a:t>Deep residual networks for earthquake early warning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X. Zhou </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hlinkClick r:id="rId8"/>
                        </a:rPr>
                        <a:t>hps://ieeexplore.ieee.or g/document/10056818</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Times New Roman" panose="02020603050405020304" pitchFamily="18" charset="0"/>
                          <a:cs typeface="Times New Roman" panose="02020603050405020304" pitchFamily="18" charset="0"/>
                        </a:rPr>
                        <a:t>Signal filtering, normalizaon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reinforces deeper convolutional designs to capture complex waveform patterns.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a:latin typeface="Times New Roman" panose="02020603050405020304" pitchFamily="18" charset="0"/>
                          <a:cs typeface="Times New Roman" panose="02020603050405020304" pitchFamily="18" charset="0"/>
                        </a:rPr>
                        <a:t>Lacks depth/geological validaon</a:t>
                      </a:r>
                      <a:endParaRPr 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486259"/>
                  </a:ext>
                </a:extLst>
              </a:tr>
            </a:tbl>
          </a:graphicData>
        </a:graphic>
      </p:graphicFrame>
      <p:sp>
        <p:nvSpPr>
          <p:cNvPr id="16" name="Footer Placeholder 15">
            <a:extLst>
              <a:ext uri="{FF2B5EF4-FFF2-40B4-BE49-F238E27FC236}">
                <a16:creationId xmlns:a16="http://schemas.microsoft.com/office/drawing/2014/main" id="{440FDF3D-8380-2CB9-3533-C070F1B9905D}"/>
              </a:ext>
            </a:extLst>
          </p:cNvPr>
          <p:cNvSpPr>
            <a:spLocks noGrp="1"/>
          </p:cNvSpPr>
          <p:nvPr>
            <p:ph type="ftr" sz="quarter" idx="11"/>
          </p:nvPr>
        </p:nvSpPr>
        <p:spPr>
          <a:xfrm>
            <a:off x="4038600" y="6356350"/>
            <a:ext cx="4232564" cy="365125"/>
          </a:xfrm>
        </p:spPr>
        <p:txBody>
          <a:bodyPr/>
          <a:lstStyle/>
          <a:p>
            <a:r>
              <a:rPr lang="en-US"/>
              <a:t>Batch No.DG-5            Department of CSE</a:t>
            </a:r>
            <a:endParaRPr lang="en-US" dirty="0"/>
          </a:p>
        </p:txBody>
      </p:sp>
      <p:sp>
        <p:nvSpPr>
          <p:cNvPr id="17" name="Slide Number Placeholder 16">
            <a:extLst>
              <a:ext uri="{FF2B5EF4-FFF2-40B4-BE49-F238E27FC236}">
                <a16:creationId xmlns:a16="http://schemas.microsoft.com/office/drawing/2014/main" id="{4F9B45BD-CE04-3B3E-9B60-D7A4C86CD29A}"/>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6</a:t>
            </a:fld>
            <a:endParaRPr lang="en-US"/>
          </a:p>
        </p:txBody>
      </p:sp>
    </p:spTree>
    <p:extLst>
      <p:ext uri="{BB962C8B-B14F-4D97-AF65-F5344CB8AC3E}">
        <p14:creationId xmlns:p14="http://schemas.microsoft.com/office/powerpoint/2010/main" val="2383949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C35075-A859-6093-473F-53D8DDDB93A7}"/>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5AF5B892-1ED8-FD5B-32B9-EA809C29062C}"/>
              </a:ext>
            </a:extLst>
          </p:cNvPr>
          <p:cNvSpPr>
            <a:spLocks noGrp="1"/>
          </p:cNvSpPr>
          <p:nvPr>
            <p:ph type="sldNum" sz="quarter" idx="12"/>
          </p:nvPr>
        </p:nvSpPr>
        <p:spPr/>
        <p:txBody>
          <a:bodyPr/>
          <a:lstStyle/>
          <a:p>
            <a:fld id="{6B82C8B7-D441-41F7-9F8A-3B05A8FD01D1}" type="slidenum">
              <a:rPr lang="en-US" smtClean="0"/>
              <a:t>7</a:t>
            </a:fld>
            <a:endParaRPr lang="en-US"/>
          </a:p>
        </p:txBody>
      </p:sp>
      <p:pic>
        <p:nvPicPr>
          <p:cNvPr id="5" name="Picture 4" descr="A close up of a logo&#10;&#10;AI-generated content may be incorrect.">
            <a:extLst>
              <a:ext uri="{FF2B5EF4-FFF2-40B4-BE49-F238E27FC236}">
                <a16:creationId xmlns:a16="http://schemas.microsoft.com/office/drawing/2014/main" id="{252E98AF-F629-396D-5C8B-7002AAFADE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99AB6A9A-F01E-6DFB-216B-F79F3BBB3AAB}"/>
              </a:ext>
            </a:extLst>
          </p:cNvPr>
          <p:cNvSpPr txBox="1"/>
          <p:nvPr/>
        </p:nvSpPr>
        <p:spPr>
          <a:xfrm>
            <a:off x="4077611" y="358877"/>
            <a:ext cx="412519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LITERATURE SURVEY</a:t>
            </a:r>
          </a:p>
        </p:txBody>
      </p:sp>
      <p:graphicFrame>
        <p:nvGraphicFramePr>
          <p:cNvPr id="9" name="Table 8">
            <a:extLst>
              <a:ext uri="{FF2B5EF4-FFF2-40B4-BE49-F238E27FC236}">
                <a16:creationId xmlns:a16="http://schemas.microsoft.com/office/drawing/2014/main" id="{92D4A3A6-FED1-424E-5951-EE64618AF3C4}"/>
              </a:ext>
            </a:extLst>
          </p:cNvPr>
          <p:cNvGraphicFramePr>
            <a:graphicFrameLocks noGrp="1"/>
          </p:cNvGraphicFramePr>
          <p:nvPr>
            <p:extLst>
              <p:ext uri="{D42A27DB-BD31-4B8C-83A1-F6EECF244321}">
                <p14:modId xmlns:p14="http://schemas.microsoft.com/office/powerpoint/2010/main" val="3620348743"/>
              </p:ext>
            </p:extLst>
          </p:nvPr>
        </p:nvGraphicFramePr>
        <p:xfrm>
          <a:off x="501443" y="865812"/>
          <a:ext cx="11523520" cy="5603724"/>
        </p:xfrm>
        <a:graphic>
          <a:graphicData uri="http://schemas.openxmlformats.org/drawingml/2006/table">
            <a:tbl>
              <a:tblPr firstRow="1" bandRow="1">
                <a:tableStyleId>{5C22544A-7EE6-4342-B048-85BDC9FD1C3A}</a:tableStyleId>
              </a:tblPr>
              <a:tblGrid>
                <a:gridCol w="960292">
                  <a:extLst>
                    <a:ext uri="{9D8B030D-6E8A-4147-A177-3AD203B41FA5}">
                      <a16:colId xmlns:a16="http://schemas.microsoft.com/office/drawing/2014/main" val="4198733524"/>
                    </a:ext>
                  </a:extLst>
                </a:gridCol>
                <a:gridCol w="1839720">
                  <a:extLst>
                    <a:ext uri="{9D8B030D-6E8A-4147-A177-3AD203B41FA5}">
                      <a16:colId xmlns:a16="http://schemas.microsoft.com/office/drawing/2014/main" val="1541954154"/>
                    </a:ext>
                  </a:extLst>
                </a:gridCol>
                <a:gridCol w="1300096">
                  <a:extLst>
                    <a:ext uri="{9D8B030D-6E8A-4147-A177-3AD203B41FA5}">
                      <a16:colId xmlns:a16="http://schemas.microsoft.com/office/drawing/2014/main" val="2331070903"/>
                    </a:ext>
                  </a:extLst>
                </a:gridCol>
                <a:gridCol w="2551186">
                  <a:extLst>
                    <a:ext uri="{9D8B030D-6E8A-4147-A177-3AD203B41FA5}">
                      <a16:colId xmlns:a16="http://schemas.microsoft.com/office/drawing/2014/main" val="2789329345"/>
                    </a:ext>
                  </a:extLst>
                </a:gridCol>
                <a:gridCol w="1870751">
                  <a:extLst>
                    <a:ext uri="{9D8B030D-6E8A-4147-A177-3AD203B41FA5}">
                      <a16:colId xmlns:a16="http://schemas.microsoft.com/office/drawing/2014/main" val="482863234"/>
                    </a:ext>
                  </a:extLst>
                </a:gridCol>
                <a:gridCol w="1465005">
                  <a:extLst>
                    <a:ext uri="{9D8B030D-6E8A-4147-A177-3AD203B41FA5}">
                      <a16:colId xmlns:a16="http://schemas.microsoft.com/office/drawing/2014/main" val="2789447342"/>
                    </a:ext>
                  </a:extLst>
                </a:gridCol>
                <a:gridCol w="1536470">
                  <a:extLst>
                    <a:ext uri="{9D8B030D-6E8A-4147-A177-3AD203B41FA5}">
                      <a16:colId xmlns:a16="http://schemas.microsoft.com/office/drawing/2014/main" val="1554649309"/>
                    </a:ext>
                  </a:extLst>
                </a:gridCol>
              </a:tblGrid>
              <a:tr h="635392">
                <a:tc>
                  <a:txBody>
                    <a:bodyPr/>
                    <a:lstStyle/>
                    <a:p>
                      <a:pPr algn="ctr"/>
                      <a:r>
                        <a:rPr lang="en-US" sz="1800" b="1" dirty="0">
                          <a:solidFill>
                            <a:schemeClr val="tx1"/>
                          </a:solidFill>
                          <a:latin typeface="Times New Roman" panose="02020603050405020304" pitchFamily="18" charset="0"/>
                          <a:cs typeface="Times New Roman" panose="02020603050405020304" pitchFamily="18" charset="0"/>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1800" dirty="0">
                          <a:solidFill>
                            <a:schemeClr val="tx1"/>
                          </a:solidFill>
                          <a:latin typeface="Times New Roman" panose="02020603050405020304" pitchFamily="18" charset="0"/>
                          <a:cs typeface="Times New Roman" panose="02020603050405020304" pitchFamily="18" charset="0"/>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b="1" dirty="0">
                          <a:solidFill>
                            <a:schemeClr val="tx1"/>
                          </a:solidFill>
                        </a:rPr>
                        <a:t>Methodology</a:t>
                      </a:r>
                    </a:p>
                    <a:p>
                      <a:pPr algn="ctr"/>
                      <a:r>
                        <a:rPr lang="en-US" b="1" dirty="0">
                          <a:solidFill>
                            <a:schemeClr val="tx1"/>
                          </a:solidFill>
                        </a:rPr>
                        <a:t>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dirty="0">
                          <a:solidFill>
                            <a:schemeClr val="tx1"/>
                          </a:solidFill>
                          <a:latin typeface="Times New Roman" panose="02020603050405020304" pitchFamily="18" charset="0"/>
                          <a:cs typeface="Times New Roman" panose="02020603050405020304" pitchFamily="18" charset="0"/>
                        </a:rPr>
                        <a:t>Key Findings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b="1" dirty="0">
                          <a:solidFill>
                            <a:schemeClr val="tx1"/>
                          </a:solidFill>
                          <a:latin typeface="Times New Roman" panose="02020603050405020304" pitchFamily="18" charset="0"/>
                          <a:cs typeface="Times New Roman" panose="02020603050405020304" pitchFamily="18" charset="0"/>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868127632"/>
                  </a:ext>
                </a:extLst>
              </a:tr>
              <a:tr h="1121304">
                <a:tc>
                  <a:txBody>
                    <a:bodyPr/>
                    <a:lstStyle/>
                    <a:p>
                      <a:r>
                        <a:rPr lang="en-US" dirty="0">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Current Trends and Advances in Extractive Text Summarization: A Comprehensive Review</a:t>
                      </a:r>
                      <a:endParaRPr lang="en-US" sz="1050"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Maryam Azam et al.,2025 ,IEEE Access</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hlinkClick r:id="rId4" action="ppaction://hlinkpres?slideindex=1&amp;slidetitle="/>
                        </a:rPr>
                        <a:t>https://ieeexplore.ieee.or g/document/10872906</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Lightweight CNN</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Introduces a low-computaon model for early magnitude</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Lacks tesng on real-me deployments and noisy inputs.</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2360573"/>
                  </a:ext>
                </a:extLst>
              </a:tr>
              <a:tr h="914748">
                <a:tc>
                  <a:txBody>
                    <a:bodyPr/>
                    <a:lstStyle/>
                    <a:p>
                      <a:r>
                        <a:rPr lang="en-US" dirty="0">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MSG-ATS: Multi-Level Semantic Graph for Arabic Text Summarization</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050">
                          <a:latin typeface="Times New Roman" panose="02020603050405020304" pitchFamily="18" charset="0"/>
                          <a:cs typeface="Times New Roman" panose="02020603050405020304" pitchFamily="18" charset="0"/>
                        </a:rPr>
                        <a:t>S. M. Mousavi, G. C. Beroza, 2021, IEEE </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hlinkClick r:id="rId5"/>
                        </a:rPr>
                        <a:t>https://ieeexplore.ieee.or g/document/10632127</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 Bayesian Neural Networks, TCNs</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Estimates source parameters with uncertainty using single-station input.</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Does not esmate magnitude</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2358239"/>
                  </a:ext>
                </a:extLst>
              </a:tr>
              <a:tr h="1121304">
                <a:tc>
                  <a:txBody>
                    <a:bodyPr/>
                    <a:lstStyle/>
                    <a:p>
                      <a:r>
                        <a:rPr lang="en-US" dirty="0">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Advanced Text Summarization Model Incorporating NLP Techniques and Feature-Based Scoring</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sz="1050">
                          <a:latin typeface="Times New Roman" panose="02020603050405020304" pitchFamily="18" charset="0"/>
                          <a:cs typeface="Times New Roman" panose="02020603050405020304" pitchFamily="18" charset="0"/>
                        </a:rPr>
                        <a:t>M. N. Uddin et al., 2023, IEEE </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hlinkClick r:id="rId5"/>
                        </a:rPr>
                        <a:t>https://ieeexplore.ieee.or g/document/10838534</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CNN with Transfer Learning (ResNet, VGG</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Uses pretrained models to predict with small datasets</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Limited tesng across regions and networks </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2057868"/>
                  </a:ext>
                </a:extLst>
              </a:tr>
              <a:tr h="914748">
                <a:tc>
                  <a:txBody>
                    <a:bodyPr/>
                    <a:lstStyle/>
                    <a:p>
                      <a:r>
                        <a:rPr lang="en-US" dirty="0">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The Summarization of Italian Tax-Law Decisions: The Case of the PRODIGIT Project</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050">
                          <a:latin typeface="Times New Roman" panose="02020603050405020304" pitchFamily="18" charset="0"/>
                          <a:cs typeface="Times New Roman" panose="02020603050405020304" pitchFamily="18" charset="0"/>
                        </a:rPr>
                        <a:t>F. H. Masoumi, 2023, IEEE</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hlinkClick r:id="rId5"/>
                        </a:rPr>
                        <a:t>https://ieeexplore.ieee.or g/document/10902362</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CNN, LSTM, Attention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Real-me DL model for accurate seismic magnitude esmaon.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Not validated under extreme noise and diverse global condions</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65285403"/>
                  </a:ext>
                </a:extLst>
              </a:tr>
              <a:tr h="644218">
                <a:tc>
                  <a:txBody>
                    <a:bodyPr/>
                    <a:lstStyle/>
                    <a:p>
                      <a:r>
                        <a:rPr lang="en-US">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Deep Learning-Based Feature Extraction Technique for Single Document Summarization Using Hybrid Optimization Technique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X. Zhou </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hlinkClick r:id="rId5"/>
                        </a:rPr>
                        <a:t>https://ieeexplore.ieee.org/document/10870163</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Signal filtering, normalizaon</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reinforces deeper convolutional designs to capture complex waveform patterns.</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50">
                          <a:latin typeface="Times New Roman" panose="02020603050405020304" pitchFamily="18" charset="0"/>
                          <a:cs typeface="Times New Roman" panose="02020603050405020304" pitchFamily="18" charset="0"/>
                        </a:rPr>
                        <a:t>Lacks depth/geological validaon</a:t>
                      </a:r>
                      <a:endParaRPr lang="en-US" sz="105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486259"/>
                  </a:ext>
                </a:extLst>
              </a:tr>
            </a:tbl>
          </a:graphicData>
        </a:graphic>
      </p:graphicFrame>
    </p:spTree>
    <p:extLst>
      <p:ext uri="{BB962C8B-B14F-4D97-AF65-F5344CB8AC3E}">
        <p14:creationId xmlns:p14="http://schemas.microsoft.com/office/powerpoint/2010/main" val="37496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5FFB3E2B-4E9D-9BA0-E82A-CEEAB12E21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2593872E-D781-356F-CC37-1E0C3EDB3B7B}"/>
              </a:ext>
            </a:extLst>
          </p:cNvPr>
          <p:cNvSpPr txBox="1"/>
          <p:nvPr/>
        </p:nvSpPr>
        <p:spPr>
          <a:xfrm>
            <a:off x="3989200" y="717754"/>
            <a:ext cx="4187537"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LITERATURE SURVEY</a:t>
            </a:r>
          </a:p>
        </p:txBody>
      </p:sp>
      <p:sp>
        <p:nvSpPr>
          <p:cNvPr id="11" name="Footer Placeholder 10">
            <a:extLst>
              <a:ext uri="{FF2B5EF4-FFF2-40B4-BE49-F238E27FC236}">
                <a16:creationId xmlns:a16="http://schemas.microsoft.com/office/drawing/2014/main" id="{945940D7-E3EC-25BC-4D50-F770E8D19420}"/>
              </a:ext>
            </a:extLst>
          </p:cNvPr>
          <p:cNvSpPr>
            <a:spLocks noGrp="1"/>
          </p:cNvSpPr>
          <p:nvPr>
            <p:ph type="ftr" sz="quarter" idx="11"/>
          </p:nvPr>
        </p:nvSpPr>
        <p:spPr>
          <a:xfrm>
            <a:off x="4038599" y="6356350"/>
            <a:ext cx="4187537" cy="365125"/>
          </a:xfrm>
        </p:spPr>
        <p:txBody>
          <a:bodyPr/>
          <a:lstStyle/>
          <a:p>
            <a:r>
              <a:rPr lang="en-US"/>
              <a:t>Batch No.DG-5            Department of CSE</a:t>
            </a:r>
            <a:endParaRPr lang="en-US" dirty="0"/>
          </a:p>
        </p:txBody>
      </p:sp>
      <p:sp>
        <p:nvSpPr>
          <p:cNvPr id="12" name="Slide Number Placeholder 11">
            <a:extLst>
              <a:ext uri="{FF2B5EF4-FFF2-40B4-BE49-F238E27FC236}">
                <a16:creationId xmlns:a16="http://schemas.microsoft.com/office/drawing/2014/main" id="{411CBD06-C844-0097-537F-47763A7B2873}"/>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8</a:t>
            </a:fld>
            <a:endParaRPr lang="en-US"/>
          </a:p>
        </p:txBody>
      </p:sp>
      <p:sp>
        <p:nvSpPr>
          <p:cNvPr id="4" name="TextBox 3">
            <a:extLst>
              <a:ext uri="{FF2B5EF4-FFF2-40B4-BE49-F238E27FC236}">
                <a16:creationId xmlns:a16="http://schemas.microsoft.com/office/drawing/2014/main" id="{14563FDF-F705-74F3-8325-AFFF04551D27}"/>
              </a:ext>
            </a:extLst>
          </p:cNvPr>
          <p:cNvSpPr txBox="1"/>
          <p:nvPr/>
        </p:nvSpPr>
        <p:spPr>
          <a:xfrm>
            <a:off x="651386" y="1400280"/>
            <a:ext cx="4363065" cy="461665"/>
          </a:xfrm>
          <a:prstGeom prst="rect">
            <a:avLst/>
          </a:prstGeom>
          <a:noFill/>
        </p:spPr>
        <p:txBody>
          <a:bodyPr wrap="square" rtlCol="0">
            <a:spAutoFit/>
          </a:bodyPr>
          <a:lstStyle/>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Papers related to our objectives</a:t>
            </a:r>
          </a:p>
        </p:txBody>
      </p:sp>
      <p:sp>
        <p:nvSpPr>
          <p:cNvPr id="5" name="TextBox 4">
            <a:extLst>
              <a:ext uri="{FF2B5EF4-FFF2-40B4-BE49-F238E27FC236}">
                <a16:creationId xmlns:a16="http://schemas.microsoft.com/office/drawing/2014/main" id="{8C5E3823-58AE-F698-7AD8-E004C3EEE3E4}"/>
              </a:ext>
            </a:extLst>
          </p:cNvPr>
          <p:cNvSpPr txBox="1"/>
          <p:nvPr/>
        </p:nvSpPr>
        <p:spPr>
          <a:xfrm>
            <a:off x="1025014" y="2021252"/>
            <a:ext cx="10515600" cy="32280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H. Wang et al., “Fast earthquake magnitude estimation using lightweight CNNs” (Ref. [1]).</a:t>
            </a:r>
          </a:p>
          <a:p>
            <a:pPr>
              <a:lnSpc>
                <a:spcPct val="150000"/>
              </a:lnSpc>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S. M. Mousavi and G. C. Beroza, “Bayesian deep learning for earthquake source characterization” (Ref. [2]).</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M. N. Uddin et al., “Transfer learning for seismic event magnitude prediction using CNNs” (Ref. [3]).</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F. H. Masoumi, “Efficient DL for earthquake prediction: Attention-based CNN-LSTM model” (Ref. [4]).</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X. Zhou et al., “Deep residual networks for earthquake early warning” (Ref. [5]).</a:t>
            </a:r>
          </a:p>
          <a:p>
            <a:pPr>
              <a:lnSpc>
                <a:spcPct val="150000"/>
              </a:lnSpc>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468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46D424-FC23-CB44-DBB0-5D5379CE862B}"/>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86988A25-7452-1A93-84E0-0B2C2A7911C7}"/>
              </a:ext>
            </a:extLst>
          </p:cNvPr>
          <p:cNvSpPr>
            <a:spLocks noGrp="1"/>
          </p:cNvSpPr>
          <p:nvPr>
            <p:ph type="sldNum" sz="quarter" idx="12"/>
          </p:nvPr>
        </p:nvSpPr>
        <p:spPr/>
        <p:txBody>
          <a:bodyPr/>
          <a:lstStyle/>
          <a:p>
            <a:fld id="{6B82C8B7-D441-41F7-9F8A-3B05A8FD01D1}" type="slidenum">
              <a:rPr lang="en-US" smtClean="0"/>
              <a:t>9</a:t>
            </a:fld>
            <a:endParaRPr lang="en-US"/>
          </a:p>
        </p:txBody>
      </p:sp>
      <p:pic>
        <p:nvPicPr>
          <p:cNvPr id="5" name="Picture 4" descr="A close up of a logo&#10;&#10;AI-generated content may be incorrect.">
            <a:extLst>
              <a:ext uri="{FF2B5EF4-FFF2-40B4-BE49-F238E27FC236}">
                <a16:creationId xmlns:a16="http://schemas.microsoft.com/office/drawing/2014/main" id="{EB44038A-A078-FD12-2CE3-834B6044A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60B76CA8-4B67-672D-146A-AC0451FB51B1}"/>
              </a:ext>
            </a:extLst>
          </p:cNvPr>
          <p:cNvSpPr txBox="1"/>
          <p:nvPr/>
        </p:nvSpPr>
        <p:spPr>
          <a:xfrm>
            <a:off x="838200" y="717754"/>
            <a:ext cx="4233153" cy="461665"/>
          </a:xfrm>
          <a:prstGeom prst="rect">
            <a:avLst/>
          </a:prstGeom>
          <a:noFill/>
        </p:spPr>
        <p:txBody>
          <a:bodyPr wrap="square" rtlCol="0">
            <a:spAutoFit/>
          </a:bodyPr>
          <a:lstStyle/>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Summarize relevant literature</a:t>
            </a:r>
          </a:p>
        </p:txBody>
      </p:sp>
      <p:sp>
        <p:nvSpPr>
          <p:cNvPr id="7" name="TextBox 6">
            <a:extLst>
              <a:ext uri="{FF2B5EF4-FFF2-40B4-BE49-F238E27FC236}">
                <a16:creationId xmlns:a16="http://schemas.microsoft.com/office/drawing/2014/main" id="{B88894A6-3CE3-62D8-EBFD-20E2D9CA0288}"/>
              </a:ext>
            </a:extLst>
          </p:cNvPr>
          <p:cNvSpPr txBox="1"/>
          <p:nvPr/>
        </p:nvSpPr>
        <p:spPr>
          <a:xfrm>
            <a:off x="1216742" y="1198277"/>
            <a:ext cx="10137058" cy="4247317"/>
          </a:xfrm>
          <a:prstGeom prst="rect">
            <a:avLst/>
          </a:prstGeom>
          <a:noFill/>
        </p:spPr>
        <p:txBody>
          <a:bodyPr wrap="square" rtlCol="0">
            <a:spAutoFit/>
          </a:bodyPr>
          <a:lstStyle/>
          <a:p>
            <a:pPr marL="285750" indent="-285750">
              <a:buFont typeface="Arial" panose="020B0604020202020204" pitchFamily="34" charset="0"/>
              <a:buChar char="•"/>
            </a:pPr>
            <a:r>
              <a:rPr lang="en-US"/>
              <a:t>Wang et al. [1]: Demonstrated fast magnitude estimation using lightweight CNNs focused on low-latency P-wave processing.</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Mousavi &amp; Beroza [2]: Proposed a Bayesian temporal convolutional framework emphasizing uncertainty modeling (probabilistic approach).</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Uddin et al. [3]: Applied transfer learning with deep CNNs (ResNet, VGG) to handle data-scarce scenarios for magnitude prediction.</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Masoumi [4]: Combined attention mechanisms with CNN–LSTM to improve real-time magnitude prediction, highlighting attention’s value.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Zhou et al. [5]: Used deep residual networks (ResNets) to capture spatial/temporal patterns for epicenter-related tasks (classification/localization).</a:t>
            </a:r>
          </a:p>
          <a:p>
            <a:endParaRPr lang="en-US"/>
          </a:p>
        </p:txBody>
      </p:sp>
    </p:spTree>
    <p:extLst>
      <p:ext uri="{BB962C8B-B14F-4D97-AF65-F5344CB8AC3E}">
        <p14:creationId xmlns:p14="http://schemas.microsoft.com/office/powerpoint/2010/main" val="2787015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D16933-4013-F048-DD83-973278563062}"/>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CD7DDA92-7F15-21EA-F4B7-6AAFC3A0B121}"/>
              </a:ext>
            </a:extLst>
          </p:cNvPr>
          <p:cNvSpPr>
            <a:spLocks noGrp="1"/>
          </p:cNvSpPr>
          <p:nvPr>
            <p:ph type="sldNum" sz="quarter" idx="12"/>
          </p:nvPr>
        </p:nvSpPr>
        <p:spPr/>
        <p:txBody>
          <a:bodyPr/>
          <a:lstStyle/>
          <a:p>
            <a:fld id="{6B82C8B7-D441-41F7-9F8A-3B05A8FD01D1}" type="slidenum">
              <a:rPr lang="en-US" smtClean="0"/>
              <a:t>10</a:t>
            </a:fld>
            <a:endParaRPr lang="en-US"/>
          </a:p>
        </p:txBody>
      </p:sp>
      <p:pic>
        <p:nvPicPr>
          <p:cNvPr id="5" name="Picture 4" descr="A close up of a logo&#10;&#10;AI-generated content may be incorrect.">
            <a:extLst>
              <a:ext uri="{FF2B5EF4-FFF2-40B4-BE49-F238E27FC236}">
                <a16:creationId xmlns:a16="http://schemas.microsoft.com/office/drawing/2014/main" id="{B6719487-8DC3-24B8-D690-BB1D43E8C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A5E05F75-31A2-07C1-111E-45A50F4A024E}"/>
              </a:ext>
            </a:extLst>
          </p:cNvPr>
          <p:cNvSpPr txBox="1"/>
          <p:nvPr/>
        </p:nvSpPr>
        <p:spPr>
          <a:xfrm>
            <a:off x="838200" y="757082"/>
            <a:ext cx="6007510" cy="461665"/>
          </a:xfrm>
          <a:prstGeom prst="rect">
            <a:avLst/>
          </a:prstGeom>
          <a:noFill/>
        </p:spPr>
        <p:txBody>
          <a:bodyPr wrap="square" rtlCol="0">
            <a:spAutoFit/>
          </a:bodyPr>
          <a:lstStyle/>
          <a:p>
            <a:pPr marL="285750" indent="-285750">
              <a:buFont typeface="Arial" panose="020B0604020202020204" pitchFamily="34" charset="0"/>
              <a:buChar char="•"/>
            </a:pPr>
            <a:r>
              <a:rPr lang="en-US"/>
              <a:t> </a:t>
            </a:r>
            <a:r>
              <a:rPr lang="en-US" sz="2400">
                <a:latin typeface="Times New Roman" panose="02020603050405020304" pitchFamily="18" charset="0"/>
                <a:cs typeface="Times New Roman" panose="02020603050405020304" pitchFamily="18" charset="0"/>
              </a:rPr>
              <a:t>key findings and their relation to our project</a:t>
            </a:r>
            <a:endParaRPr lang="en-US">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D7CE1FB-E408-2CBC-C2CE-963151971E6C}"/>
              </a:ext>
            </a:extLst>
          </p:cNvPr>
          <p:cNvSpPr txBox="1"/>
          <p:nvPr/>
        </p:nvSpPr>
        <p:spPr>
          <a:xfrm>
            <a:off x="1162665" y="1338480"/>
            <a:ext cx="10515600" cy="3970318"/>
          </a:xfrm>
          <a:prstGeom prst="rect">
            <a:avLst/>
          </a:prstGeom>
          <a:noFill/>
        </p:spPr>
        <p:txBody>
          <a:bodyPr wrap="square" rtlCol="0">
            <a:spAutoFit/>
          </a:bodyPr>
          <a:lstStyle/>
          <a:p>
            <a:pPr marL="285750" indent="-285750">
              <a:buFont typeface="Arial" panose="020B0604020202020204" pitchFamily="34" charset="0"/>
              <a:buChar char="•"/>
            </a:pPr>
            <a:r>
              <a:rPr lang="en-US"/>
              <a:t>Low-latency CNNs (Wang et al. [1]) → validates using lightweight convolutional blocks in our waveform branch for fast inference.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Bayesian/uncertainty approaches (Mousavi &amp; Beroza [2]) → supports our adoption of Monte Carlo Dropout for uncertainty estimation.</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Transfer learning (Uddin et al. [3]) → motivates robust feature extraction and potential domain adaptation if data sparsity arises.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Attention-augmented CNN–LSTM (Masoumi [4]) → aligns with our use of attention (Transformer) to highlight informative waveform segments.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Residual/deep feature extractors (Zhou et al. [5]) → reinforces deeper convolutional designs to capture complex waveform patterns.</a:t>
            </a:r>
          </a:p>
        </p:txBody>
      </p:sp>
    </p:spTree>
    <p:extLst>
      <p:ext uri="{BB962C8B-B14F-4D97-AF65-F5344CB8AC3E}">
        <p14:creationId xmlns:p14="http://schemas.microsoft.com/office/powerpoint/2010/main" val="1357668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logo&#10;&#10;AI-generated content may be incorrect.">
            <a:extLst>
              <a:ext uri="{FF2B5EF4-FFF2-40B4-BE49-F238E27FC236}">
                <a16:creationId xmlns:a16="http://schemas.microsoft.com/office/drawing/2014/main" id="{FC58EB6D-A5A0-6E23-DCA6-46EBE7A07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F9EC3593-DAC2-E52A-0BE4-84F4C1CB9625}"/>
              </a:ext>
            </a:extLst>
          </p:cNvPr>
          <p:cNvSpPr txBox="1"/>
          <p:nvPr/>
        </p:nvSpPr>
        <p:spPr>
          <a:xfrm>
            <a:off x="4184184" y="573077"/>
            <a:ext cx="3221182"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RESEARCH GAPS</a:t>
            </a:r>
          </a:p>
        </p:txBody>
      </p:sp>
      <p:sp>
        <p:nvSpPr>
          <p:cNvPr id="11" name="Footer Placeholder 10">
            <a:extLst>
              <a:ext uri="{FF2B5EF4-FFF2-40B4-BE49-F238E27FC236}">
                <a16:creationId xmlns:a16="http://schemas.microsoft.com/office/drawing/2014/main" id="{69181048-CCC4-B9B5-6F1D-41E6E2793327}"/>
              </a:ext>
            </a:extLst>
          </p:cNvPr>
          <p:cNvSpPr>
            <a:spLocks noGrp="1"/>
          </p:cNvSpPr>
          <p:nvPr>
            <p:ph type="ftr" sz="quarter" idx="11"/>
          </p:nvPr>
        </p:nvSpPr>
        <p:spPr>
          <a:xfrm>
            <a:off x="4038600" y="6356350"/>
            <a:ext cx="4232564" cy="365125"/>
          </a:xfrm>
        </p:spPr>
        <p:txBody>
          <a:bodyPr/>
          <a:lstStyle/>
          <a:p>
            <a:r>
              <a:rPr lang="en-US"/>
              <a:t>Batch No.DG-5            Department of CSE</a:t>
            </a:r>
            <a:endParaRPr lang="en-US" dirty="0"/>
          </a:p>
        </p:txBody>
      </p:sp>
      <p:sp>
        <p:nvSpPr>
          <p:cNvPr id="12" name="Slide Number Placeholder 11">
            <a:extLst>
              <a:ext uri="{FF2B5EF4-FFF2-40B4-BE49-F238E27FC236}">
                <a16:creationId xmlns:a16="http://schemas.microsoft.com/office/drawing/2014/main" id="{74C93BF0-CFB4-F518-D235-484902E978D0}"/>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11</a:t>
            </a:fld>
            <a:endParaRPr lang="en-US"/>
          </a:p>
        </p:txBody>
      </p:sp>
      <p:sp>
        <p:nvSpPr>
          <p:cNvPr id="2" name="TextBox 1">
            <a:extLst>
              <a:ext uri="{FF2B5EF4-FFF2-40B4-BE49-F238E27FC236}">
                <a16:creationId xmlns:a16="http://schemas.microsoft.com/office/drawing/2014/main" id="{048A8021-6123-3C9E-4BD6-79DFBD920336}"/>
              </a:ext>
            </a:extLst>
          </p:cNvPr>
          <p:cNvSpPr txBox="1"/>
          <p:nvPr/>
        </p:nvSpPr>
        <p:spPr>
          <a:xfrm>
            <a:off x="838200" y="1270716"/>
            <a:ext cx="10515600" cy="4524315"/>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Many prior works focus on single-task predictions (mostly magnitude) rather than a unified multi-parameter estimator — our project addresses this by joint estimation of magnitude, distance, azimuth, and depth.</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Existing methods often use staged pipelines or shallow regressors, causing latency and weaker generalization; our end-to-end architecture removes staged dependence and is optimized for low-latency inference.</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Several studies either emphasize uncertainty or interpretability but rarely combine both with strong multi-task performance; we integrate Monte Carlo Dropout and SHAP + attention for combined uncertainty and explainability.</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Spatial station relationships (GNN approaches) are explored but increase computational cost; our metadata-fusion strategy offers a lighter way to inject spatial context while keeping edge deployability.</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Transferability across tectonic regions and real-time edge constraints are under-addressed in literature; our model’s lightweight design and focus on 3-second inputs target these practical deployment gaps.</a:t>
            </a:r>
          </a:p>
        </p:txBody>
      </p:sp>
    </p:spTree>
    <p:extLst>
      <p:ext uri="{BB962C8B-B14F-4D97-AF65-F5344CB8AC3E}">
        <p14:creationId xmlns:p14="http://schemas.microsoft.com/office/powerpoint/2010/main" val="695913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7CB96F4B-CE97-DEFE-C282-82E905DA1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08F5088D-0577-DC8F-2B1F-5ED1622703A2}"/>
              </a:ext>
            </a:extLst>
          </p:cNvPr>
          <p:cNvSpPr txBox="1"/>
          <p:nvPr/>
        </p:nvSpPr>
        <p:spPr>
          <a:xfrm>
            <a:off x="3989200" y="468772"/>
            <a:ext cx="43434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34EB25DB-083C-1274-4B11-1CAA06FE9B25}"/>
              </a:ext>
            </a:extLst>
          </p:cNvPr>
          <p:cNvSpPr txBox="1"/>
          <p:nvPr/>
        </p:nvSpPr>
        <p:spPr>
          <a:xfrm>
            <a:off x="838200" y="967673"/>
            <a:ext cx="3522519" cy="461665"/>
          </a:xfrm>
          <a:prstGeom prst="rect">
            <a:avLst/>
          </a:prstGeom>
          <a:noFill/>
        </p:spPr>
        <p:txBody>
          <a:bodyPr wrap="square" rtlCol="0">
            <a:spAutoFit/>
          </a:bodyPr>
          <a:lstStyle/>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Problem Definition</a:t>
            </a:r>
          </a:p>
        </p:txBody>
      </p:sp>
      <p:sp>
        <p:nvSpPr>
          <p:cNvPr id="19" name="Footer Placeholder 18">
            <a:extLst>
              <a:ext uri="{FF2B5EF4-FFF2-40B4-BE49-F238E27FC236}">
                <a16:creationId xmlns:a16="http://schemas.microsoft.com/office/drawing/2014/main" id="{88A614ED-0D2C-CB90-A300-6DC18E27518E}"/>
              </a:ext>
            </a:extLst>
          </p:cNvPr>
          <p:cNvSpPr>
            <a:spLocks noGrp="1"/>
          </p:cNvSpPr>
          <p:nvPr>
            <p:ph type="ftr" sz="quarter" idx="11"/>
          </p:nvPr>
        </p:nvSpPr>
        <p:spPr>
          <a:xfrm>
            <a:off x="4038600" y="6356350"/>
            <a:ext cx="4326082" cy="365125"/>
          </a:xfrm>
        </p:spPr>
        <p:txBody>
          <a:bodyPr/>
          <a:lstStyle/>
          <a:p>
            <a:r>
              <a:rPr lang="en-US"/>
              <a:t>Batch No.DG-5            Department of CSE</a:t>
            </a:r>
            <a:endParaRPr lang="en-US" dirty="0"/>
          </a:p>
        </p:txBody>
      </p:sp>
      <p:sp>
        <p:nvSpPr>
          <p:cNvPr id="20" name="Slide Number Placeholder 19">
            <a:extLst>
              <a:ext uri="{FF2B5EF4-FFF2-40B4-BE49-F238E27FC236}">
                <a16:creationId xmlns:a16="http://schemas.microsoft.com/office/drawing/2014/main" id="{CF494F60-1B88-C0AA-CD14-20F681BC3646}"/>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12</a:t>
            </a:fld>
            <a:endParaRPr lang="en-US"/>
          </a:p>
        </p:txBody>
      </p:sp>
      <p:sp>
        <p:nvSpPr>
          <p:cNvPr id="12" name="TextBox 11">
            <a:extLst>
              <a:ext uri="{FF2B5EF4-FFF2-40B4-BE49-F238E27FC236}">
                <a16:creationId xmlns:a16="http://schemas.microsoft.com/office/drawing/2014/main" id="{4B1EDA98-71E1-74C1-1889-BA141B564DEA}"/>
              </a:ext>
            </a:extLst>
          </p:cNvPr>
          <p:cNvSpPr txBox="1"/>
          <p:nvPr/>
        </p:nvSpPr>
        <p:spPr>
          <a:xfrm>
            <a:off x="838200" y="1607505"/>
            <a:ext cx="10515599" cy="4247317"/>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Earthquake prediction is highly complex due to the non-linear and irregular patterns present in seismic signals.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Traditional models fail to capture long-term temporal and spatial dependencies, leading to unreliable forecasts.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There is a lack of explainability and uncertainty estimation, limiting the trust and usability of current prediction systems.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Current systems often perform </a:t>
            </a:r>
            <a:r>
              <a:rPr lang="en-US" b="1">
                <a:latin typeface="Times New Roman" panose="02020603050405020304" pitchFamily="18" charset="0"/>
                <a:cs typeface="Times New Roman" panose="02020603050405020304" pitchFamily="18" charset="0"/>
              </a:rPr>
              <a:t>single-task prediction</a:t>
            </a:r>
            <a:r>
              <a:rPr lang="en-US">
                <a:latin typeface="Times New Roman" panose="02020603050405020304" pitchFamily="18" charset="0"/>
                <a:cs typeface="Times New Roman" panose="02020603050405020304" pitchFamily="18" charset="0"/>
              </a:rPr>
              <a:t>, ignoring the strong interdependence between magnitude, distance, azimuth, and depth.</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There is a significant </a:t>
            </a:r>
            <a:r>
              <a:rPr lang="en-US" b="1">
                <a:latin typeface="Times New Roman" panose="02020603050405020304" pitchFamily="18" charset="0"/>
                <a:cs typeface="Times New Roman" panose="02020603050405020304" pitchFamily="18" charset="0"/>
              </a:rPr>
              <a:t>lack of explainability and uncertainty estimation</a:t>
            </a:r>
            <a:r>
              <a:rPr lang="en-US">
                <a:latin typeface="Times New Roman" panose="02020603050405020304" pitchFamily="18" charset="0"/>
                <a:cs typeface="Times New Roman" panose="02020603050405020304" pitchFamily="18" charset="0"/>
              </a:rPr>
              <a:t>, reducing trust, reliability, and real-world applicability of earthquake prediction systems.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394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964A18-F0A1-A75D-7CC9-0BA6779DAE04}"/>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BA05B71D-CEB9-A7E0-AC2A-C62F9F60885D}"/>
              </a:ext>
            </a:extLst>
          </p:cNvPr>
          <p:cNvSpPr>
            <a:spLocks noGrp="1"/>
          </p:cNvSpPr>
          <p:nvPr>
            <p:ph type="sldNum" sz="quarter" idx="12"/>
          </p:nvPr>
        </p:nvSpPr>
        <p:spPr/>
        <p:txBody>
          <a:bodyPr/>
          <a:lstStyle/>
          <a:p>
            <a:fld id="{6B82C8B7-D441-41F7-9F8A-3B05A8FD01D1}" type="slidenum">
              <a:rPr lang="en-US" smtClean="0"/>
              <a:t>13</a:t>
            </a:fld>
            <a:endParaRPr lang="en-US"/>
          </a:p>
        </p:txBody>
      </p:sp>
      <p:sp>
        <p:nvSpPr>
          <p:cNvPr id="5" name="TextBox 4">
            <a:extLst>
              <a:ext uri="{FF2B5EF4-FFF2-40B4-BE49-F238E27FC236}">
                <a16:creationId xmlns:a16="http://schemas.microsoft.com/office/drawing/2014/main" id="{38FC93C1-7D58-4A74-1125-712B5F38EB78}"/>
              </a:ext>
            </a:extLst>
          </p:cNvPr>
          <p:cNvSpPr txBox="1"/>
          <p:nvPr/>
        </p:nvSpPr>
        <p:spPr>
          <a:xfrm>
            <a:off x="585258" y="955416"/>
            <a:ext cx="2259542" cy="461665"/>
          </a:xfrm>
          <a:prstGeom prst="rect">
            <a:avLst/>
          </a:prstGeom>
          <a:noFill/>
        </p:spPr>
        <p:txBody>
          <a:bodyPr wrap="square" rtlCol="0">
            <a:spAutoFit/>
          </a:bodyPr>
          <a:lstStyle/>
          <a:p>
            <a:pPr marL="342900"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Significance:</a:t>
            </a:r>
          </a:p>
        </p:txBody>
      </p:sp>
      <p:pic>
        <p:nvPicPr>
          <p:cNvPr id="6" name="Picture 5" descr="A close up of a logo&#10;&#10;AI-generated content may be incorrect.">
            <a:extLst>
              <a:ext uri="{FF2B5EF4-FFF2-40B4-BE49-F238E27FC236}">
                <a16:creationId xmlns:a16="http://schemas.microsoft.com/office/drawing/2014/main" id="{CF3443E1-C30E-021F-690B-804F9690A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7" name="TextBox 6">
            <a:extLst>
              <a:ext uri="{FF2B5EF4-FFF2-40B4-BE49-F238E27FC236}">
                <a16:creationId xmlns:a16="http://schemas.microsoft.com/office/drawing/2014/main" id="{4436BABE-6410-C472-90AC-48488EC8A033}"/>
              </a:ext>
            </a:extLst>
          </p:cNvPr>
          <p:cNvSpPr txBox="1"/>
          <p:nvPr/>
        </p:nvSpPr>
        <p:spPr>
          <a:xfrm>
            <a:off x="1127760" y="1458113"/>
            <a:ext cx="9560560" cy="41975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Accurate and reliable earthquake prediction enables </a:t>
            </a:r>
            <a:r>
              <a:rPr lang="en-US" b="1">
                <a:latin typeface="Times New Roman" panose="02020603050405020304" pitchFamily="18" charset="0"/>
                <a:cs typeface="Times New Roman" panose="02020603050405020304" pitchFamily="18" charset="0"/>
              </a:rPr>
              <a:t>early warning systems</a:t>
            </a:r>
            <a:r>
              <a:rPr lang="en-US">
                <a:latin typeface="Times New Roman" panose="02020603050405020304" pitchFamily="18" charset="0"/>
                <a:cs typeface="Times New Roman" panose="02020603050405020304" pitchFamily="18" charset="0"/>
              </a:rPr>
              <a:t>, allowing timely actions such as infrastructure shutdowns and public alerts to minimize loss.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A unified deep learning framework improves </a:t>
            </a:r>
            <a:r>
              <a:rPr lang="en-US" b="1">
                <a:latin typeface="Times New Roman" panose="02020603050405020304" pitchFamily="18" charset="0"/>
                <a:cs typeface="Times New Roman" panose="02020603050405020304" pitchFamily="18" charset="0"/>
              </a:rPr>
              <a:t>prediction accuracy and generalization</a:t>
            </a:r>
            <a:r>
              <a:rPr lang="en-US">
                <a:latin typeface="Times New Roman" panose="02020603050405020304" pitchFamily="18" charset="0"/>
                <a:cs typeface="Times New Roman" panose="02020603050405020304" pitchFamily="18" charset="0"/>
              </a:rPr>
              <a:t> by jointly estimating multiple seismic parameters.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Incorporating </a:t>
            </a:r>
            <a:r>
              <a:rPr lang="en-US" b="1">
                <a:latin typeface="Times New Roman" panose="02020603050405020304" pitchFamily="18" charset="0"/>
                <a:cs typeface="Times New Roman" panose="02020603050405020304" pitchFamily="18" charset="0"/>
              </a:rPr>
              <a:t>interpretability techniques</a:t>
            </a:r>
            <a:r>
              <a:rPr lang="en-US">
                <a:latin typeface="Times New Roman" panose="02020603050405020304" pitchFamily="18" charset="0"/>
                <a:cs typeface="Times New Roman" panose="02020603050405020304" pitchFamily="18" charset="0"/>
              </a:rPr>
              <a:t> such as SHAP and attention mechanisms increases transparency and user confidence in model decisions.</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Uncertainty-aware predictions</a:t>
            </a:r>
            <a:r>
              <a:rPr lang="en-US">
                <a:latin typeface="Times New Roman" panose="02020603050405020304" pitchFamily="18" charset="0"/>
                <a:cs typeface="Times New Roman" panose="02020603050405020304" pitchFamily="18" charset="0"/>
              </a:rPr>
              <a:t> enhance decision-making in safety-critical scenarios by providing confidence bounds along with estimates.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proposed approach supports </a:t>
            </a:r>
            <a:r>
              <a:rPr lang="en-US" b="1">
                <a:latin typeface="Times New Roman" panose="02020603050405020304" pitchFamily="18" charset="0"/>
                <a:cs typeface="Times New Roman" panose="02020603050405020304" pitchFamily="18" charset="0"/>
              </a:rPr>
              <a:t>real-time deployment</a:t>
            </a:r>
            <a:r>
              <a:rPr lang="en-US">
                <a:latin typeface="Times New Roman" panose="02020603050405020304" pitchFamily="18" charset="0"/>
                <a:cs typeface="Times New Roman" panose="02020603050405020304" pitchFamily="18" charset="0"/>
              </a:rPr>
              <a:t>, contributing to improved disaster preparedness and resilient smart-city infrastructure.</a:t>
            </a:r>
          </a:p>
        </p:txBody>
      </p:sp>
    </p:spTree>
    <p:extLst>
      <p:ext uri="{BB962C8B-B14F-4D97-AF65-F5344CB8AC3E}">
        <p14:creationId xmlns:p14="http://schemas.microsoft.com/office/powerpoint/2010/main" val="195837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1F25B692-0658-3B85-67C9-130BD543C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FCCBB557-9C17-74D6-AA80-7A8212067B92}"/>
              </a:ext>
            </a:extLst>
          </p:cNvPr>
          <p:cNvSpPr txBox="1"/>
          <p:nvPr/>
        </p:nvSpPr>
        <p:spPr>
          <a:xfrm>
            <a:off x="4665519" y="774261"/>
            <a:ext cx="2670463"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OBJECTIVES</a:t>
            </a:r>
          </a:p>
        </p:txBody>
      </p:sp>
      <p:sp>
        <p:nvSpPr>
          <p:cNvPr id="15" name="Footer Placeholder 14">
            <a:extLst>
              <a:ext uri="{FF2B5EF4-FFF2-40B4-BE49-F238E27FC236}">
                <a16:creationId xmlns:a16="http://schemas.microsoft.com/office/drawing/2014/main" id="{DD446DA0-B457-D843-9DD3-8C2235E09B70}"/>
              </a:ext>
            </a:extLst>
          </p:cNvPr>
          <p:cNvSpPr>
            <a:spLocks noGrp="1"/>
          </p:cNvSpPr>
          <p:nvPr>
            <p:ph type="ftr" sz="quarter" idx="11"/>
          </p:nvPr>
        </p:nvSpPr>
        <p:spPr>
          <a:xfrm>
            <a:off x="4038599" y="6356350"/>
            <a:ext cx="4253345" cy="365125"/>
          </a:xfrm>
        </p:spPr>
        <p:txBody>
          <a:bodyPr/>
          <a:lstStyle/>
          <a:p>
            <a:r>
              <a:rPr lang="en-US"/>
              <a:t>Batch No.DG-5            Department of CSE</a:t>
            </a:r>
            <a:endParaRPr lang="en-US" dirty="0"/>
          </a:p>
        </p:txBody>
      </p:sp>
      <p:sp>
        <p:nvSpPr>
          <p:cNvPr id="16" name="Slide Number Placeholder 15">
            <a:extLst>
              <a:ext uri="{FF2B5EF4-FFF2-40B4-BE49-F238E27FC236}">
                <a16:creationId xmlns:a16="http://schemas.microsoft.com/office/drawing/2014/main" id="{320AAF11-B120-57A6-1FB6-1A20F3CB6236}"/>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14</a:t>
            </a:fld>
            <a:endParaRPr lang="en-US"/>
          </a:p>
        </p:txBody>
      </p:sp>
      <p:sp>
        <p:nvSpPr>
          <p:cNvPr id="5" name="TextBox 4">
            <a:extLst>
              <a:ext uri="{FF2B5EF4-FFF2-40B4-BE49-F238E27FC236}">
                <a16:creationId xmlns:a16="http://schemas.microsoft.com/office/drawing/2014/main" id="{6FB25A09-8672-CF65-A3E8-84F800681D25}"/>
              </a:ext>
            </a:extLst>
          </p:cNvPr>
          <p:cNvSpPr txBox="1"/>
          <p:nvPr/>
        </p:nvSpPr>
        <p:spPr>
          <a:xfrm>
            <a:off x="919316" y="1661652"/>
            <a:ext cx="10353368" cy="3851311"/>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To develop a unified deep learning model that jointly predicts earthquake magnitude, epicentral distance, azimuth, and focal depth.</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To integrate CNN, BiLSTM, and Transformer layers for effective extraction of local, sequential, and long-range waveform features.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To enhance model interpretability and reliability using SHAP analysis and Monte Carlo Dropout-based uncertainty estimation.</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lnSpc>
                <a:spcPct val="2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To achieve high accuracy and low latency for real-time deployment in Earthquake Early Warning (EEW) systems.</a:t>
            </a:r>
          </a:p>
        </p:txBody>
      </p:sp>
    </p:spTree>
    <p:extLst>
      <p:ext uri="{BB962C8B-B14F-4D97-AF65-F5344CB8AC3E}">
        <p14:creationId xmlns:p14="http://schemas.microsoft.com/office/powerpoint/2010/main" val="1375620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C5607281-FC12-E0DA-8137-521C4196B2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ECA851F9-74A8-F7DE-4931-26F9586F8715}"/>
              </a:ext>
            </a:extLst>
          </p:cNvPr>
          <p:cNvSpPr txBox="1"/>
          <p:nvPr/>
        </p:nvSpPr>
        <p:spPr>
          <a:xfrm>
            <a:off x="3062749" y="669484"/>
            <a:ext cx="72009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BLOCK DIAGRAM OR FLOW DIAGRAM</a:t>
            </a:r>
          </a:p>
        </p:txBody>
      </p:sp>
      <p:sp>
        <p:nvSpPr>
          <p:cNvPr id="12" name="Footer Placeholder 11">
            <a:extLst>
              <a:ext uri="{FF2B5EF4-FFF2-40B4-BE49-F238E27FC236}">
                <a16:creationId xmlns:a16="http://schemas.microsoft.com/office/drawing/2014/main" id="{71C7CEC3-1EFD-BA06-3E77-12F0C7E5670D}"/>
              </a:ext>
            </a:extLst>
          </p:cNvPr>
          <p:cNvSpPr>
            <a:spLocks noGrp="1"/>
          </p:cNvSpPr>
          <p:nvPr>
            <p:ph type="ftr" sz="quarter" idx="11"/>
          </p:nvPr>
        </p:nvSpPr>
        <p:spPr>
          <a:xfrm>
            <a:off x="4038599" y="6356350"/>
            <a:ext cx="4242955" cy="365125"/>
          </a:xfrm>
        </p:spPr>
        <p:txBody>
          <a:bodyPr/>
          <a:lstStyle/>
          <a:p>
            <a:r>
              <a:rPr lang="en-US"/>
              <a:t>Batch No.DG-5            Department of CSE</a:t>
            </a:r>
            <a:endParaRPr lang="en-US" dirty="0"/>
          </a:p>
        </p:txBody>
      </p:sp>
      <p:sp>
        <p:nvSpPr>
          <p:cNvPr id="13" name="Slide Number Placeholder 12">
            <a:extLst>
              <a:ext uri="{FF2B5EF4-FFF2-40B4-BE49-F238E27FC236}">
                <a16:creationId xmlns:a16="http://schemas.microsoft.com/office/drawing/2014/main" id="{6AC66FC3-E827-66F6-ADD9-EC29EBD39F17}"/>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15</a:t>
            </a:fld>
            <a:endParaRPr lang="en-US"/>
          </a:p>
        </p:txBody>
      </p:sp>
      <p:pic>
        <p:nvPicPr>
          <p:cNvPr id="6" name="Picture 5" descr="A diagram of a flowchart&#10;&#10;Description automatically generated">
            <a:extLst>
              <a:ext uri="{FF2B5EF4-FFF2-40B4-BE49-F238E27FC236}">
                <a16:creationId xmlns:a16="http://schemas.microsoft.com/office/drawing/2014/main" id="{29334E1A-4F1E-F7D6-B3EA-B5221DF65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5605" y="1191057"/>
            <a:ext cx="7388941" cy="5165293"/>
          </a:xfrm>
          <a:prstGeom prst="rect">
            <a:avLst/>
          </a:prstGeom>
        </p:spPr>
      </p:pic>
    </p:spTree>
    <p:extLst>
      <p:ext uri="{BB962C8B-B14F-4D97-AF65-F5344CB8AC3E}">
        <p14:creationId xmlns:p14="http://schemas.microsoft.com/office/powerpoint/2010/main" val="1795209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77F446E-CE01-0B85-9191-8D55CB065C85}"/>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EDA4C4F2-1E81-C385-FC51-C0878415D671}"/>
              </a:ext>
            </a:extLst>
          </p:cNvPr>
          <p:cNvSpPr>
            <a:spLocks noGrp="1"/>
          </p:cNvSpPr>
          <p:nvPr>
            <p:ph type="sldNum" sz="quarter" idx="12"/>
          </p:nvPr>
        </p:nvSpPr>
        <p:spPr/>
        <p:txBody>
          <a:bodyPr/>
          <a:lstStyle/>
          <a:p>
            <a:fld id="{6B82C8B7-D441-41F7-9F8A-3B05A8FD01D1}" type="slidenum">
              <a:rPr lang="en-US" smtClean="0"/>
              <a:t>16</a:t>
            </a:fld>
            <a:endParaRPr lang="en-US"/>
          </a:p>
        </p:txBody>
      </p:sp>
      <p:pic>
        <p:nvPicPr>
          <p:cNvPr id="5" name="Picture 4" descr="A close up of a logo&#10;&#10;AI-generated content may be incorrect.">
            <a:extLst>
              <a:ext uri="{FF2B5EF4-FFF2-40B4-BE49-F238E27FC236}">
                <a16:creationId xmlns:a16="http://schemas.microsoft.com/office/drawing/2014/main" id="{60710AC5-3CEE-1BDE-46AE-2DD3C122C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244CACB1-C06F-FB7E-7593-607E37C16A74}"/>
              </a:ext>
            </a:extLst>
          </p:cNvPr>
          <p:cNvSpPr txBox="1"/>
          <p:nvPr/>
        </p:nvSpPr>
        <p:spPr>
          <a:xfrm>
            <a:off x="2679291" y="590826"/>
            <a:ext cx="7200900" cy="461665"/>
          </a:xfrm>
          <a:prstGeom prst="rect">
            <a:avLst/>
          </a:prstGeom>
          <a:noFill/>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Pre Processing Techniques</a:t>
            </a:r>
          </a:p>
        </p:txBody>
      </p:sp>
      <p:sp>
        <p:nvSpPr>
          <p:cNvPr id="7" name="TextBox 6">
            <a:extLst>
              <a:ext uri="{FF2B5EF4-FFF2-40B4-BE49-F238E27FC236}">
                <a16:creationId xmlns:a16="http://schemas.microsoft.com/office/drawing/2014/main" id="{D94DAB14-6FCB-3426-2AEA-6F5AAD5EB5AC}"/>
              </a:ext>
            </a:extLst>
          </p:cNvPr>
          <p:cNvSpPr txBox="1"/>
          <p:nvPr/>
        </p:nvSpPr>
        <p:spPr>
          <a:xfrm>
            <a:off x="619432" y="1191429"/>
            <a:ext cx="10439400"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Waveform Preprocessing:</a:t>
            </a:r>
          </a:p>
        </p:txBody>
      </p:sp>
      <p:sp>
        <p:nvSpPr>
          <p:cNvPr id="8" name="TextBox 7">
            <a:extLst>
              <a:ext uri="{FF2B5EF4-FFF2-40B4-BE49-F238E27FC236}">
                <a16:creationId xmlns:a16="http://schemas.microsoft.com/office/drawing/2014/main" id="{C0DC0376-3D30-9179-966D-B7994B72E22C}"/>
              </a:ext>
            </a:extLst>
          </p:cNvPr>
          <p:cNvSpPr txBox="1"/>
          <p:nvPr/>
        </p:nvSpPr>
        <p:spPr>
          <a:xfrm>
            <a:off x="619432" y="1730477"/>
            <a:ext cx="10609006" cy="4247317"/>
          </a:xfrm>
          <a:prstGeom prst="rect">
            <a:avLst/>
          </a:prstGeom>
          <a:noFill/>
        </p:spPr>
        <p:txBody>
          <a:bodyPr wrap="square" rtlCol="0">
            <a:spAutoFit/>
          </a:bodyPr>
          <a:lstStyle/>
          <a:p>
            <a:r>
              <a:rPr lang="en-US" b="1"/>
              <a:t>Waveform preprocessing is performed to enhance signal quality and ensure stable model training.</a:t>
            </a:r>
            <a:br>
              <a:rPr lang="en-US"/>
            </a:br>
            <a:r>
              <a:rPr lang="en-US"/>
              <a:t>Each seismic event is represented using a </a:t>
            </a:r>
            <a:r>
              <a:rPr lang="en-US" b="1"/>
              <a:t>3-second waveform segment</a:t>
            </a:r>
            <a:r>
              <a:rPr lang="en-US"/>
              <a:t> captured immediately after P-wave arrival.</a:t>
            </a:r>
          </a:p>
          <a:p>
            <a:endParaRPr lang="en-US"/>
          </a:p>
          <a:p>
            <a:pPr marL="285750" indent="-285750">
              <a:buFont typeface="Arial" panose="020B0604020202020204" pitchFamily="34" charset="0"/>
              <a:buChar char="•"/>
            </a:pPr>
            <a:r>
              <a:rPr lang="en-US"/>
              <a:t>Seismic signals are sampled at </a:t>
            </a:r>
            <a:r>
              <a:rPr lang="en-US" b="1"/>
              <a:t>100 Hz</a:t>
            </a:r>
            <a:r>
              <a:rPr lang="en-US"/>
              <a:t> across three components:</a:t>
            </a:r>
            <a:br>
              <a:rPr lang="en-US"/>
            </a:br>
            <a:r>
              <a:rPr lang="en-US" b="1"/>
              <a:t>Vertical (Z), North–South (N), and East–West (E)</a:t>
            </a:r>
            <a:r>
              <a:rPr lang="en-US"/>
              <a:t>, forming a </a:t>
            </a:r>
            <a:r>
              <a:rPr lang="en-US" b="1"/>
              <a:t>300 × 3 input matrix</a:t>
            </a:r>
            <a:r>
              <a:rPr lang="en-US"/>
              <a:t>.</a:t>
            </a:r>
          </a:p>
          <a:p>
            <a:pPr marL="285750" indent="-285750">
              <a:buFont typeface="Arial" panose="020B0604020202020204" pitchFamily="34" charset="0"/>
              <a:buChar char="•"/>
            </a:pPr>
            <a:r>
              <a:rPr lang="en-US" b="1"/>
              <a:t>Mean Removal</a:t>
            </a:r>
            <a:r>
              <a:rPr lang="en-US"/>
              <a:t> is applied to each channel to eliminate sensor bias and baseline drift.</a:t>
            </a:r>
          </a:p>
          <a:p>
            <a:pPr marL="285750" indent="-285750">
              <a:buFont typeface="Arial" panose="020B0604020202020204" pitchFamily="34" charset="0"/>
              <a:buChar char="•"/>
            </a:pPr>
            <a:r>
              <a:rPr lang="en-US" b="1"/>
              <a:t>Z-Score Normalization</a:t>
            </a:r>
            <a:r>
              <a:rPr lang="en-US"/>
              <a:t> is performed to standardize waveform amplitudes, improving convergence during training.</a:t>
            </a:r>
          </a:p>
          <a:p>
            <a:pPr marL="285750" indent="-285750">
              <a:buFont typeface="Arial" panose="020B0604020202020204" pitchFamily="34" charset="0"/>
              <a:buChar char="•"/>
            </a:pPr>
            <a:r>
              <a:rPr lang="en-US"/>
              <a:t>A </a:t>
            </a:r>
            <a:r>
              <a:rPr lang="en-US" b="1"/>
              <a:t>Butterworth Bandpass Filter (0.1–20 Hz)</a:t>
            </a:r>
            <a:r>
              <a:rPr lang="en-US"/>
              <a:t> is used to suppress low-frequency drift and high-frequency noise while preserving seismic characteristics.</a:t>
            </a:r>
          </a:p>
          <a:p>
            <a:r>
              <a:rPr lang="en-US" b="1"/>
              <a:t>Result:</a:t>
            </a:r>
            <a:br>
              <a:rPr lang="en-US"/>
            </a:br>
            <a:r>
              <a:rPr lang="en-US"/>
              <a:t>Preprocessed waveforms are clean, normalized, and noise-robust, making them suitable for deep learning architectures such as CNN, BiLSTM, and Transformer models.</a:t>
            </a:r>
          </a:p>
          <a:p>
            <a:endParaRPr lang="en-US"/>
          </a:p>
        </p:txBody>
      </p:sp>
    </p:spTree>
    <p:extLst>
      <p:ext uri="{BB962C8B-B14F-4D97-AF65-F5344CB8AC3E}">
        <p14:creationId xmlns:p14="http://schemas.microsoft.com/office/powerpoint/2010/main" val="1775208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0CF4B62-1EBB-DBBA-99DD-D9AA950CED78}"/>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4F4564C2-217C-5FDF-1C60-EBC2D558EFB4}"/>
              </a:ext>
            </a:extLst>
          </p:cNvPr>
          <p:cNvSpPr>
            <a:spLocks noGrp="1"/>
          </p:cNvSpPr>
          <p:nvPr>
            <p:ph type="sldNum" sz="quarter" idx="12"/>
          </p:nvPr>
        </p:nvSpPr>
        <p:spPr/>
        <p:txBody>
          <a:bodyPr/>
          <a:lstStyle/>
          <a:p>
            <a:fld id="{6B82C8B7-D441-41F7-9F8A-3B05A8FD01D1}" type="slidenum">
              <a:rPr lang="en-US" smtClean="0"/>
              <a:t>17</a:t>
            </a:fld>
            <a:endParaRPr lang="en-US"/>
          </a:p>
        </p:txBody>
      </p:sp>
      <p:pic>
        <p:nvPicPr>
          <p:cNvPr id="5" name="Picture 4" descr="A close up of a logo&#10;&#10;AI-generated content may be incorrect.">
            <a:extLst>
              <a:ext uri="{FF2B5EF4-FFF2-40B4-BE49-F238E27FC236}">
                <a16:creationId xmlns:a16="http://schemas.microsoft.com/office/drawing/2014/main" id="{484D95EB-8DE1-DDBF-237F-FBF7EFFBD2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4CFE082B-D146-8276-4297-08A33B712255}"/>
              </a:ext>
            </a:extLst>
          </p:cNvPr>
          <p:cNvSpPr txBox="1"/>
          <p:nvPr/>
        </p:nvSpPr>
        <p:spPr>
          <a:xfrm>
            <a:off x="757084" y="1189412"/>
            <a:ext cx="10596716"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Feature Engineering &amp; Data Preparation:</a:t>
            </a:r>
          </a:p>
        </p:txBody>
      </p:sp>
      <p:sp>
        <p:nvSpPr>
          <p:cNvPr id="7" name="TextBox 6">
            <a:extLst>
              <a:ext uri="{FF2B5EF4-FFF2-40B4-BE49-F238E27FC236}">
                <a16:creationId xmlns:a16="http://schemas.microsoft.com/office/drawing/2014/main" id="{FC930BAF-C3E7-7AA7-7DB7-ADEB72A919BF}"/>
              </a:ext>
            </a:extLst>
          </p:cNvPr>
          <p:cNvSpPr txBox="1"/>
          <p:nvPr/>
        </p:nvSpPr>
        <p:spPr>
          <a:xfrm>
            <a:off x="753397" y="1814256"/>
            <a:ext cx="10685206" cy="646331"/>
          </a:xfrm>
          <a:prstGeom prst="rect">
            <a:avLst/>
          </a:prstGeom>
          <a:noFill/>
        </p:spPr>
        <p:txBody>
          <a:bodyPr wrap="square" rtlCol="0">
            <a:spAutoFit/>
          </a:bodyPr>
          <a:lstStyle/>
          <a:p>
            <a:pPr marL="285750" indent="-285750">
              <a:buFont typeface="Arial" panose="020B0604020202020204" pitchFamily="34" charset="0"/>
              <a:buChar char="•"/>
            </a:pPr>
            <a:r>
              <a:rPr lang="en-US"/>
              <a:t>Statistical feature extracted:</a:t>
            </a:r>
          </a:p>
          <a:p>
            <a:r>
              <a:rPr lang="en-US"/>
              <a:t>	</a:t>
            </a:r>
          </a:p>
        </p:txBody>
      </p:sp>
      <p:sp>
        <p:nvSpPr>
          <p:cNvPr id="13" name="TextBox 12">
            <a:extLst>
              <a:ext uri="{FF2B5EF4-FFF2-40B4-BE49-F238E27FC236}">
                <a16:creationId xmlns:a16="http://schemas.microsoft.com/office/drawing/2014/main" id="{D1F4376A-A297-68AE-41F0-78249B9F7745}"/>
              </a:ext>
            </a:extLst>
          </p:cNvPr>
          <p:cNvSpPr txBox="1"/>
          <p:nvPr/>
        </p:nvSpPr>
        <p:spPr>
          <a:xfrm>
            <a:off x="1408232" y="2351620"/>
            <a:ext cx="5161935" cy="16158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t>Peak Displacement (Pd)</a:t>
            </a:r>
          </a:p>
          <a:p>
            <a:pPr marL="285750" indent="-285750">
              <a:lnSpc>
                <a:spcPct val="150000"/>
              </a:lnSpc>
              <a:buFont typeface="Arial" panose="020B0604020202020204" pitchFamily="34" charset="0"/>
              <a:buChar char="•"/>
            </a:pPr>
            <a:r>
              <a:rPr lang="en-US"/>
              <a:t>Mean, Standard Deviation</a:t>
            </a:r>
          </a:p>
          <a:p>
            <a:pPr marL="285750" indent="-285750">
              <a:lnSpc>
                <a:spcPct val="150000"/>
              </a:lnSpc>
              <a:buFont typeface="Arial" panose="020B0604020202020204" pitchFamily="34" charset="0"/>
              <a:buChar char="•"/>
            </a:pPr>
            <a:r>
              <a:rPr lang="en-US"/>
              <a:t>Skewness, Kurtosis</a:t>
            </a:r>
          </a:p>
          <a:p>
            <a:endParaRPr lang="en-US"/>
          </a:p>
        </p:txBody>
      </p:sp>
      <p:sp>
        <p:nvSpPr>
          <p:cNvPr id="16" name="TextBox 15">
            <a:extLst>
              <a:ext uri="{FF2B5EF4-FFF2-40B4-BE49-F238E27FC236}">
                <a16:creationId xmlns:a16="http://schemas.microsoft.com/office/drawing/2014/main" id="{38E699A3-BFAB-EDC2-F053-22B6279BDCFF}"/>
              </a:ext>
            </a:extLst>
          </p:cNvPr>
          <p:cNvSpPr txBox="1"/>
          <p:nvPr/>
        </p:nvSpPr>
        <p:spPr>
          <a:xfrm>
            <a:off x="838200" y="3779520"/>
            <a:ext cx="6944360" cy="129888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t>Handcrafted features fused with deep features</a:t>
            </a:r>
          </a:p>
          <a:p>
            <a:pPr marL="285750" indent="-285750">
              <a:lnSpc>
                <a:spcPct val="150000"/>
              </a:lnSpc>
              <a:buFont typeface="Arial" panose="020B0604020202020204" pitchFamily="34" charset="0"/>
              <a:buChar char="•"/>
            </a:pPr>
            <a:r>
              <a:rPr lang="en-US"/>
              <a:t>Output labels normalized using Min-Max scaling [0,1]</a:t>
            </a:r>
          </a:p>
          <a:p>
            <a:pPr marL="285750" indent="-285750">
              <a:lnSpc>
                <a:spcPct val="150000"/>
              </a:lnSpc>
              <a:buFont typeface="Arial" panose="020B0604020202020204" pitchFamily="34" charset="0"/>
              <a:buChar char="•"/>
            </a:pPr>
            <a:r>
              <a:rPr lang="en-US"/>
              <a:t>Ensures robust multi-task learning and generalization</a:t>
            </a:r>
          </a:p>
        </p:txBody>
      </p:sp>
    </p:spTree>
    <p:extLst>
      <p:ext uri="{BB962C8B-B14F-4D97-AF65-F5344CB8AC3E}">
        <p14:creationId xmlns:p14="http://schemas.microsoft.com/office/powerpoint/2010/main" val="3617383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144E3E0F-422B-32D6-D33D-BEEC57D6F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DF7A43ED-B860-C9B9-E429-99CD704EB9F1}"/>
              </a:ext>
            </a:extLst>
          </p:cNvPr>
          <p:cNvSpPr txBox="1"/>
          <p:nvPr/>
        </p:nvSpPr>
        <p:spPr>
          <a:xfrm>
            <a:off x="4245245" y="582627"/>
            <a:ext cx="3169228"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METHODOLOGY</a:t>
            </a:r>
          </a:p>
        </p:txBody>
      </p:sp>
      <p:sp>
        <p:nvSpPr>
          <p:cNvPr id="16" name="Footer Placeholder 15">
            <a:extLst>
              <a:ext uri="{FF2B5EF4-FFF2-40B4-BE49-F238E27FC236}">
                <a16:creationId xmlns:a16="http://schemas.microsoft.com/office/drawing/2014/main" id="{6886BF18-ED45-097D-C41E-0A1B0C4BCB54}"/>
              </a:ext>
            </a:extLst>
          </p:cNvPr>
          <p:cNvSpPr>
            <a:spLocks noGrp="1"/>
          </p:cNvSpPr>
          <p:nvPr>
            <p:ph type="ftr" sz="quarter" idx="11"/>
          </p:nvPr>
        </p:nvSpPr>
        <p:spPr>
          <a:xfrm>
            <a:off x="4038599" y="6332538"/>
            <a:ext cx="4222173" cy="365125"/>
          </a:xfrm>
        </p:spPr>
        <p:txBody>
          <a:bodyPr/>
          <a:lstStyle/>
          <a:p>
            <a:r>
              <a:rPr lang="en-US"/>
              <a:t>Batch No.DG-5            Department of CSE</a:t>
            </a:r>
            <a:endParaRPr lang="en-US" dirty="0"/>
          </a:p>
        </p:txBody>
      </p:sp>
      <p:sp>
        <p:nvSpPr>
          <p:cNvPr id="17" name="Slide Number Placeholder 16">
            <a:extLst>
              <a:ext uri="{FF2B5EF4-FFF2-40B4-BE49-F238E27FC236}">
                <a16:creationId xmlns:a16="http://schemas.microsoft.com/office/drawing/2014/main" id="{4C5E4F43-383D-D35E-85AA-098FDB06A220}"/>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18</a:t>
            </a:fld>
            <a:endParaRPr lang="en-US"/>
          </a:p>
        </p:txBody>
      </p:sp>
      <p:sp>
        <p:nvSpPr>
          <p:cNvPr id="8" name="TextBox 7">
            <a:extLst>
              <a:ext uri="{FF2B5EF4-FFF2-40B4-BE49-F238E27FC236}">
                <a16:creationId xmlns:a16="http://schemas.microsoft.com/office/drawing/2014/main" id="{EB195EAC-E3E7-36D6-84A1-724902BC2D67}"/>
              </a:ext>
            </a:extLst>
          </p:cNvPr>
          <p:cNvSpPr txBox="1"/>
          <p:nvPr/>
        </p:nvSpPr>
        <p:spPr>
          <a:xfrm>
            <a:off x="838200" y="1494503"/>
            <a:ext cx="10515600" cy="3693319"/>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study uses K-NET and KiK-net seismic datasets containing 3-component waveform signals (Z, N, E) sampled at 100 Hz.</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A 3-second waveform window is extracted after the P-wave onset to capture early seismic activity.</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Preprocessing steps include mean removal, z-score normalization, and a Butterworth bandpass filter (0.1–20 Hz) for noise reduction.</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Handcrafted statistical features such as peak displacement (Pd), mean, standard deviation, skewness, and kurtosis are computed for improved interpretability.</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Both waveform data and tabular metadata (latitude, longitude, magnitude, depth, azimuth, epicentral distance) are fused for enhanced spatiotemporal learning.</a:t>
            </a:r>
          </a:p>
        </p:txBody>
      </p:sp>
    </p:spTree>
    <p:extLst>
      <p:ext uri="{BB962C8B-B14F-4D97-AF65-F5344CB8AC3E}">
        <p14:creationId xmlns:p14="http://schemas.microsoft.com/office/powerpoint/2010/main" val="3930744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78B6B84-50F3-126B-C63C-AD4D7569D4EB}"/>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1DC5EFF0-6466-6917-8401-59CA6435F5DB}"/>
              </a:ext>
            </a:extLst>
          </p:cNvPr>
          <p:cNvSpPr>
            <a:spLocks noGrp="1"/>
          </p:cNvSpPr>
          <p:nvPr>
            <p:ph type="sldNum" sz="quarter" idx="12"/>
          </p:nvPr>
        </p:nvSpPr>
        <p:spPr/>
        <p:txBody>
          <a:bodyPr/>
          <a:lstStyle/>
          <a:p>
            <a:fld id="{6B82C8B7-D441-41F7-9F8A-3B05A8FD01D1}" type="slidenum">
              <a:rPr lang="en-US" smtClean="0"/>
              <a:t>19</a:t>
            </a:fld>
            <a:endParaRPr lang="en-US"/>
          </a:p>
        </p:txBody>
      </p:sp>
      <p:pic>
        <p:nvPicPr>
          <p:cNvPr id="5" name="Picture 4" descr="A close up of a logo&#10;&#10;AI-generated content may be incorrect.">
            <a:extLst>
              <a:ext uri="{FF2B5EF4-FFF2-40B4-BE49-F238E27FC236}">
                <a16:creationId xmlns:a16="http://schemas.microsoft.com/office/drawing/2014/main" id="{ABD1ECEB-B4E7-596D-E3DA-4A4652DA30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8B69FC8E-A81E-BD66-C7E9-FD3739EE49D6}"/>
              </a:ext>
            </a:extLst>
          </p:cNvPr>
          <p:cNvSpPr txBox="1"/>
          <p:nvPr/>
        </p:nvSpPr>
        <p:spPr>
          <a:xfrm>
            <a:off x="779023" y="889843"/>
            <a:ext cx="10515600" cy="5078313"/>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architecture integrates CNN, BiLSTM, and Transformer layers: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CNN captures local temporal features,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BiLSTM learns sequential dependencies,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a:latin typeface="Times New Roman" panose="02020603050405020304" pitchFamily="18" charset="0"/>
                <a:cs typeface="Times New Roman" panose="02020603050405020304" pitchFamily="18" charset="0"/>
              </a:rPr>
              <a:t>Transformer encoder models long-range dependencies.</a:t>
            </a: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model outputs four parameters simultaneously — magnitude, epicentral distance, azimuth, and focal depth — using multi-task regression.</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Monte Carlo Dropout is used during inference for uncertainty estimation.</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SHAP analysis and attention visualization are applied for interpretability and insight into feature contributions.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model is trained using TensorFlow/Keras, optimized with the Adam optimizer (learning rate = 1×10⁻⁴), batch size = 64, and trained for 100 epochs with early stopping.</a:t>
            </a:r>
          </a:p>
        </p:txBody>
      </p:sp>
    </p:spTree>
    <p:extLst>
      <p:ext uri="{BB962C8B-B14F-4D97-AF65-F5344CB8AC3E}">
        <p14:creationId xmlns:p14="http://schemas.microsoft.com/office/powerpoint/2010/main" val="4154085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2730BCE6-61E5-A0F1-8B65-12323D6A71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45DB9516-10AB-90F6-316D-4CA5AEA1336E}"/>
              </a:ext>
            </a:extLst>
          </p:cNvPr>
          <p:cNvSpPr txBox="1"/>
          <p:nvPr/>
        </p:nvSpPr>
        <p:spPr>
          <a:xfrm>
            <a:off x="570271" y="717754"/>
            <a:ext cx="4115248" cy="52322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Frameworks</a:t>
            </a:r>
            <a:r>
              <a:rPr lang="en-US" sz="2400" b="1">
                <a:latin typeface="Times New Roman" panose="02020603050405020304" pitchFamily="18" charset="0"/>
                <a:cs typeface="Times New Roman" panose="02020603050405020304" pitchFamily="18" charset="0"/>
              </a:rPr>
              <a:t>, Algorithms</a:t>
            </a:r>
            <a:r>
              <a:rPr lang="en-US" sz="2800" b="1">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E5B1D21-64C6-9FB9-C747-C3ABFE89FC02}"/>
              </a:ext>
            </a:extLst>
          </p:cNvPr>
          <p:cNvSpPr txBox="1"/>
          <p:nvPr/>
        </p:nvSpPr>
        <p:spPr>
          <a:xfrm>
            <a:off x="838200" y="1370805"/>
            <a:ext cx="2626888" cy="400110"/>
          </a:xfrm>
          <a:prstGeom prst="rect">
            <a:avLst/>
          </a:prstGeom>
          <a:noFill/>
        </p:spPr>
        <p:txBody>
          <a:bodyPr wrap="square" rtlCol="0">
            <a:spAutoFit/>
          </a:bodyPr>
          <a:lstStyle/>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Frameworks</a:t>
            </a:r>
            <a:r>
              <a:rPr lang="en-US" sz="2000" b="1">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Used</a:t>
            </a:r>
            <a:r>
              <a:rPr lang="en-US" sz="2000" b="1">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5" name="Footer Placeholder 14">
            <a:extLst>
              <a:ext uri="{FF2B5EF4-FFF2-40B4-BE49-F238E27FC236}">
                <a16:creationId xmlns:a16="http://schemas.microsoft.com/office/drawing/2014/main" id="{C2AE5487-5B5D-6CD4-4733-E6F3724FB0B9}"/>
              </a:ext>
            </a:extLst>
          </p:cNvPr>
          <p:cNvSpPr>
            <a:spLocks noGrp="1"/>
          </p:cNvSpPr>
          <p:nvPr>
            <p:ph type="ftr" sz="quarter" idx="11"/>
          </p:nvPr>
        </p:nvSpPr>
        <p:spPr>
          <a:xfrm>
            <a:off x="4038599" y="6356350"/>
            <a:ext cx="4253345" cy="365125"/>
          </a:xfrm>
        </p:spPr>
        <p:txBody>
          <a:bodyPr/>
          <a:lstStyle/>
          <a:p>
            <a:r>
              <a:rPr lang="en-US"/>
              <a:t>Batch No.DG-5            Department of CSE</a:t>
            </a:r>
            <a:endParaRPr lang="en-US" dirty="0"/>
          </a:p>
        </p:txBody>
      </p:sp>
      <p:sp>
        <p:nvSpPr>
          <p:cNvPr id="16" name="Slide Number Placeholder 15">
            <a:extLst>
              <a:ext uri="{FF2B5EF4-FFF2-40B4-BE49-F238E27FC236}">
                <a16:creationId xmlns:a16="http://schemas.microsoft.com/office/drawing/2014/main" id="{2F071760-566A-74AF-A633-0ABCD6D43126}"/>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20</a:t>
            </a:fld>
            <a:endParaRPr lang="en-US"/>
          </a:p>
        </p:txBody>
      </p:sp>
      <p:sp>
        <p:nvSpPr>
          <p:cNvPr id="8" name="TextBox 7">
            <a:extLst>
              <a:ext uri="{FF2B5EF4-FFF2-40B4-BE49-F238E27FC236}">
                <a16:creationId xmlns:a16="http://schemas.microsoft.com/office/drawing/2014/main" id="{70F96F67-34ED-5F72-A0DC-7E0EB70AE84B}"/>
              </a:ext>
            </a:extLst>
          </p:cNvPr>
          <p:cNvSpPr txBox="1"/>
          <p:nvPr/>
        </p:nvSpPr>
        <p:spPr>
          <a:xfrm>
            <a:off x="1514168" y="1770915"/>
            <a:ext cx="9537290" cy="2031325"/>
          </a:xfrm>
          <a:prstGeom prst="rect">
            <a:avLst/>
          </a:prstGeom>
          <a:noFill/>
        </p:spPr>
        <p:txBody>
          <a:bodyPr wrap="square" rtlCol="0">
            <a:spAutoFit/>
          </a:bodyPr>
          <a:lstStyle/>
          <a:p>
            <a:pPr marL="285750" indent="-285750">
              <a:buFont typeface="Arial" panose="020B0604020202020204" pitchFamily="34" charset="0"/>
              <a:buChar char="•"/>
            </a:pPr>
            <a:r>
              <a:rPr lang="en-US"/>
              <a:t>TensorFlow / Keras framework used for model development and training.</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Enables easy implementation of deep learning architectures (CNN, BiLSTM, Transformer).</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Supports GPU acceleration for faster computation and large-scale waveform processing.</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Integrated with NumPy and Pandas for data handling and preprocessing.</a:t>
            </a:r>
          </a:p>
        </p:txBody>
      </p:sp>
      <p:sp>
        <p:nvSpPr>
          <p:cNvPr id="9" name="TextBox 8">
            <a:extLst>
              <a:ext uri="{FF2B5EF4-FFF2-40B4-BE49-F238E27FC236}">
                <a16:creationId xmlns:a16="http://schemas.microsoft.com/office/drawing/2014/main" id="{A70F1BDC-7B41-2E1E-32BC-42D95CB78549}"/>
              </a:ext>
            </a:extLst>
          </p:cNvPr>
          <p:cNvSpPr txBox="1"/>
          <p:nvPr/>
        </p:nvSpPr>
        <p:spPr>
          <a:xfrm>
            <a:off x="842876" y="3863077"/>
            <a:ext cx="3146324" cy="400110"/>
          </a:xfrm>
          <a:prstGeom prst="rect">
            <a:avLst/>
          </a:prstGeom>
          <a:noFill/>
        </p:spPr>
        <p:txBody>
          <a:bodyPr wrap="square" rtlCol="0">
            <a:spAutoFit/>
          </a:bodyPr>
          <a:lstStyle/>
          <a:p>
            <a:pPr marL="285750" indent="-285750">
              <a:buFont typeface="Arial" panose="020B0604020202020204" pitchFamily="34" charset="0"/>
              <a:buChar char="•"/>
            </a:pPr>
            <a:r>
              <a:rPr lang="en-US"/>
              <a:t>Algorithms </a:t>
            </a:r>
            <a:r>
              <a:rPr lang="en-US" sz="2000">
                <a:latin typeface="Times New Roman" panose="02020603050405020304" pitchFamily="18" charset="0"/>
                <a:cs typeface="Times New Roman" panose="02020603050405020304" pitchFamily="18" charset="0"/>
              </a:rPr>
              <a:t>Implemented:</a:t>
            </a: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2943D49-6210-0D29-74DA-4D140948A907}"/>
              </a:ext>
            </a:extLst>
          </p:cNvPr>
          <p:cNvSpPr txBox="1"/>
          <p:nvPr/>
        </p:nvSpPr>
        <p:spPr>
          <a:xfrm>
            <a:off x="1514168" y="4332181"/>
            <a:ext cx="9665109" cy="1477328"/>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Convolutional Neural Network (CNN): Extracts local temporal and spatial features from 3-channel waveform data.</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Bidirectional LSTM (BiLSTM): Captures sequential dependencies and bidirectional temporal relationships.</a:t>
            </a:r>
          </a:p>
        </p:txBody>
      </p:sp>
    </p:spTree>
    <p:extLst>
      <p:ext uri="{BB962C8B-B14F-4D97-AF65-F5344CB8AC3E}">
        <p14:creationId xmlns:p14="http://schemas.microsoft.com/office/powerpoint/2010/main" val="2748870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06868D7C-721C-3A1D-BA61-AA6CCE0747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D9BCBFEE-F12E-CDA3-F634-EBAF19D5D317}"/>
              </a:ext>
            </a:extLst>
          </p:cNvPr>
          <p:cNvSpPr txBox="1"/>
          <p:nvPr/>
        </p:nvSpPr>
        <p:spPr>
          <a:xfrm>
            <a:off x="3989200" y="707363"/>
            <a:ext cx="4135582"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IMPLEMENTATION</a:t>
            </a:r>
          </a:p>
        </p:txBody>
      </p:sp>
      <p:sp>
        <p:nvSpPr>
          <p:cNvPr id="15" name="Footer Placeholder 14">
            <a:extLst>
              <a:ext uri="{FF2B5EF4-FFF2-40B4-BE49-F238E27FC236}">
                <a16:creationId xmlns:a16="http://schemas.microsoft.com/office/drawing/2014/main" id="{F2CB39AA-39F0-69B8-8C8A-14C969FAA68B}"/>
              </a:ext>
            </a:extLst>
          </p:cNvPr>
          <p:cNvSpPr>
            <a:spLocks noGrp="1"/>
          </p:cNvSpPr>
          <p:nvPr>
            <p:ph type="ftr" sz="quarter" idx="11"/>
          </p:nvPr>
        </p:nvSpPr>
        <p:spPr>
          <a:xfrm>
            <a:off x="4038599" y="6356350"/>
            <a:ext cx="4242955" cy="365125"/>
          </a:xfrm>
        </p:spPr>
        <p:txBody>
          <a:bodyPr/>
          <a:lstStyle/>
          <a:p>
            <a:r>
              <a:rPr lang="en-US"/>
              <a:t>Batch No.DG-5            Department of CSE</a:t>
            </a:r>
            <a:endParaRPr lang="en-US" dirty="0"/>
          </a:p>
        </p:txBody>
      </p:sp>
      <p:sp>
        <p:nvSpPr>
          <p:cNvPr id="16" name="Slide Number Placeholder 15">
            <a:extLst>
              <a:ext uri="{FF2B5EF4-FFF2-40B4-BE49-F238E27FC236}">
                <a16:creationId xmlns:a16="http://schemas.microsoft.com/office/drawing/2014/main" id="{AE190651-87EA-09AA-B462-A46BD08C6034}"/>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21</a:t>
            </a:fld>
            <a:endParaRPr lang="en-US"/>
          </a:p>
        </p:txBody>
      </p:sp>
      <p:sp>
        <p:nvSpPr>
          <p:cNvPr id="8" name="TextBox 7">
            <a:extLst>
              <a:ext uri="{FF2B5EF4-FFF2-40B4-BE49-F238E27FC236}">
                <a16:creationId xmlns:a16="http://schemas.microsoft.com/office/drawing/2014/main" id="{FE1F3065-4598-E566-E622-A811CF88A9C4}"/>
              </a:ext>
            </a:extLst>
          </p:cNvPr>
          <p:cNvSpPr txBox="1"/>
          <p:nvPr/>
        </p:nvSpPr>
        <p:spPr>
          <a:xfrm>
            <a:off x="838200" y="1602657"/>
            <a:ext cx="10515600" cy="3416320"/>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model is implemented using TensorFlow and Keras, leveraging their flexibility for multi-input and multi-output architectures.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Waveform and metadata inputs are preprocessed and stored as NumPy arrays for efficient data loading during training.</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system is trained for 100 epochs with the Adam optimizer (learning rate = 1×10⁻⁴) and a batch size of 64.</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Early stopping and learning rate scheduling are applied to prevent overfitting and improve convergence.</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best-performing model is automatically saved using the ModelCheckpoint callback for evaluation and deployment.</a:t>
            </a:r>
          </a:p>
        </p:txBody>
      </p:sp>
    </p:spTree>
    <p:extLst>
      <p:ext uri="{BB962C8B-B14F-4D97-AF65-F5344CB8AC3E}">
        <p14:creationId xmlns:p14="http://schemas.microsoft.com/office/powerpoint/2010/main" val="2520852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1EDE308-B906-0F31-904A-F6F323F8EC16}"/>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237D409B-34E3-0A2B-0A32-8C7D0F114435}"/>
              </a:ext>
            </a:extLst>
          </p:cNvPr>
          <p:cNvSpPr>
            <a:spLocks noGrp="1"/>
          </p:cNvSpPr>
          <p:nvPr>
            <p:ph type="sldNum" sz="quarter" idx="12"/>
          </p:nvPr>
        </p:nvSpPr>
        <p:spPr/>
        <p:txBody>
          <a:bodyPr/>
          <a:lstStyle/>
          <a:p>
            <a:fld id="{6B82C8B7-D441-41F7-9F8A-3B05A8FD01D1}" type="slidenum">
              <a:rPr lang="en-US" smtClean="0"/>
              <a:t>22</a:t>
            </a:fld>
            <a:endParaRPr lang="en-US"/>
          </a:p>
        </p:txBody>
      </p:sp>
      <p:pic>
        <p:nvPicPr>
          <p:cNvPr id="5" name="Picture 4" descr="A close up of a logo&#10;&#10;AI-generated content may be incorrect.">
            <a:extLst>
              <a:ext uri="{FF2B5EF4-FFF2-40B4-BE49-F238E27FC236}">
                <a16:creationId xmlns:a16="http://schemas.microsoft.com/office/drawing/2014/main" id="{01574789-FC6C-19B0-467A-C4B1A30E4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36F53B68-B615-6197-6818-20D19D608007}"/>
              </a:ext>
            </a:extLst>
          </p:cNvPr>
          <p:cNvSpPr txBox="1"/>
          <p:nvPr/>
        </p:nvSpPr>
        <p:spPr>
          <a:xfrm>
            <a:off x="898403" y="1505825"/>
            <a:ext cx="10276840" cy="420519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A </a:t>
            </a:r>
            <a:r>
              <a:rPr lang="en-US" b="1">
                <a:latin typeface="Times New Roman" panose="02020603050405020304" pitchFamily="18" charset="0"/>
                <a:cs typeface="Times New Roman" panose="02020603050405020304" pitchFamily="18" charset="0"/>
              </a:rPr>
              <a:t>multi-input, multi-task deep learning architecture</a:t>
            </a:r>
            <a:r>
              <a:rPr lang="en-US">
                <a:latin typeface="Times New Roman" panose="02020603050405020304" pitchFamily="18" charset="0"/>
                <a:cs typeface="Times New Roman" panose="02020603050405020304" pitchFamily="18" charset="0"/>
              </a:rPr>
              <a:t> is designed to jointly predict magnitude, epicentral distance, azimuth, and focal depth.</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Waveform branch</a:t>
            </a:r>
            <a:r>
              <a:rPr lang="en-US">
                <a:latin typeface="Times New Roman" panose="02020603050405020304" pitchFamily="18" charset="0"/>
                <a:cs typeface="Times New Roman" panose="02020603050405020304" pitchFamily="18" charset="0"/>
              </a:rPr>
              <a:t> processes 3-second, three-component seismic signals (300×3) using stacked </a:t>
            </a:r>
            <a:r>
              <a:rPr lang="en-US" b="1">
                <a:latin typeface="Times New Roman" panose="02020603050405020304" pitchFamily="18" charset="0"/>
                <a:cs typeface="Times New Roman" panose="02020603050405020304" pitchFamily="18" charset="0"/>
              </a:rPr>
              <a:t>Conv1D layers</a:t>
            </a:r>
            <a:r>
              <a:rPr lang="en-US">
                <a:latin typeface="Times New Roman" panose="02020603050405020304" pitchFamily="18" charset="0"/>
                <a:cs typeface="Times New Roman" panose="02020603050405020304" pitchFamily="18" charset="0"/>
              </a:rPr>
              <a:t> followed by </a:t>
            </a:r>
            <a:r>
              <a:rPr lang="en-US" b="1">
                <a:latin typeface="Times New Roman" panose="02020603050405020304" pitchFamily="18" charset="0"/>
                <a:cs typeface="Times New Roman" panose="02020603050405020304" pitchFamily="18" charset="0"/>
              </a:rPr>
              <a:t>BiLSTM</a:t>
            </a:r>
            <a:r>
              <a:rPr lang="en-US">
                <a:latin typeface="Times New Roman" panose="02020603050405020304" pitchFamily="18" charset="0"/>
                <a:cs typeface="Times New Roman" panose="02020603050405020304" pitchFamily="18" charset="0"/>
              </a:rPr>
              <a:t> to capture temporal dependencies.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A </a:t>
            </a:r>
            <a:r>
              <a:rPr lang="en-US" b="1">
                <a:latin typeface="Times New Roman" panose="02020603050405020304" pitchFamily="18" charset="0"/>
                <a:cs typeface="Times New Roman" panose="02020603050405020304" pitchFamily="18" charset="0"/>
              </a:rPr>
              <a:t>Transformer encoder with multi-head self-attention</a:t>
            </a:r>
            <a:r>
              <a:rPr lang="en-US">
                <a:latin typeface="Times New Roman" panose="02020603050405020304" pitchFamily="18" charset="0"/>
                <a:cs typeface="Times New Roman" panose="02020603050405020304" pitchFamily="18" charset="0"/>
              </a:rPr>
              <a:t> is applied to model long-range temporal patterns in seismic waveforms.</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Handcrafted statistical features</a:t>
            </a:r>
            <a:r>
              <a:rPr lang="en-US">
                <a:latin typeface="Times New Roman" panose="02020603050405020304" pitchFamily="18" charset="0"/>
                <a:cs typeface="Times New Roman" panose="02020603050405020304" pitchFamily="18" charset="0"/>
              </a:rPr>
              <a:t> (peak displacement, mean, standard deviation, skewness, kurtosis) are extracted and fed through a separate dense branch.</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Deep waveform features and handcrafted features are </a:t>
            </a:r>
            <a:r>
              <a:rPr lang="en-US" b="1">
                <a:latin typeface="Times New Roman" panose="02020603050405020304" pitchFamily="18" charset="0"/>
                <a:cs typeface="Times New Roman" panose="02020603050405020304" pitchFamily="18" charset="0"/>
              </a:rPr>
              <a:t>fused using feature concatenation</a:t>
            </a:r>
            <a:r>
              <a:rPr lang="en-US">
                <a:latin typeface="Times New Roman" panose="02020603050405020304" pitchFamily="18" charset="0"/>
                <a:cs typeface="Times New Roman" panose="02020603050405020304" pitchFamily="18" charset="0"/>
              </a:rPr>
              <a:t> to enhance robustness and spatial awareness.</a:t>
            </a:r>
          </a:p>
        </p:txBody>
      </p:sp>
      <p:sp>
        <p:nvSpPr>
          <p:cNvPr id="7" name="TextBox 6">
            <a:extLst>
              <a:ext uri="{FF2B5EF4-FFF2-40B4-BE49-F238E27FC236}">
                <a16:creationId xmlns:a16="http://schemas.microsoft.com/office/drawing/2014/main" id="{2A92CC86-EDF1-4145-F0F4-ED18C8B3F71F}"/>
              </a:ext>
            </a:extLst>
          </p:cNvPr>
          <p:cNvSpPr txBox="1"/>
          <p:nvPr/>
        </p:nvSpPr>
        <p:spPr>
          <a:xfrm>
            <a:off x="685800" y="961628"/>
            <a:ext cx="4150360"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Model Architecture &amp; Data Flow:</a:t>
            </a:r>
          </a:p>
        </p:txBody>
      </p:sp>
    </p:spTree>
    <p:extLst>
      <p:ext uri="{BB962C8B-B14F-4D97-AF65-F5344CB8AC3E}">
        <p14:creationId xmlns:p14="http://schemas.microsoft.com/office/powerpoint/2010/main" val="3747020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D966A1-8B10-4923-1F4E-648EBF20A125}"/>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50FD3F36-E457-3849-8F2B-A520263025B0}"/>
              </a:ext>
            </a:extLst>
          </p:cNvPr>
          <p:cNvSpPr>
            <a:spLocks noGrp="1"/>
          </p:cNvSpPr>
          <p:nvPr>
            <p:ph type="sldNum" sz="quarter" idx="12"/>
          </p:nvPr>
        </p:nvSpPr>
        <p:spPr/>
        <p:txBody>
          <a:bodyPr/>
          <a:lstStyle/>
          <a:p>
            <a:fld id="{6B82C8B7-D441-41F7-9F8A-3B05A8FD01D1}" type="slidenum">
              <a:rPr lang="en-US" smtClean="0"/>
              <a:t>23</a:t>
            </a:fld>
            <a:endParaRPr lang="en-US"/>
          </a:p>
        </p:txBody>
      </p:sp>
      <p:pic>
        <p:nvPicPr>
          <p:cNvPr id="5" name="Picture 4" descr="A close up of a logo&#10;&#10;AI-generated content may be incorrect.">
            <a:extLst>
              <a:ext uri="{FF2B5EF4-FFF2-40B4-BE49-F238E27FC236}">
                <a16:creationId xmlns:a16="http://schemas.microsoft.com/office/drawing/2014/main" id="{CAE2C152-D844-245C-9E18-125211D79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8A68B151-0065-51C0-6C50-1C6FA0B35857}"/>
              </a:ext>
            </a:extLst>
          </p:cNvPr>
          <p:cNvSpPr txBox="1"/>
          <p:nvPr/>
        </p:nvSpPr>
        <p:spPr>
          <a:xfrm>
            <a:off x="685800" y="961628"/>
            <a:ext cx="4150360"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Trainig Strategy&amp; Optimisation:</a:t>
            </a:r>
          </a:p>
        </p:txBody>
      </p:sp>
      <p:sp>
        <p:nvSpPr>
          <p:cNvPr id="7" name="TextBox 6">
            <a:extLst>
              <a:ext uri="{FF2B5EF4-FFF2-40B4-BE49-F238E27FC236}">
                <a16:creationId xmlns:a16="http://schemas.microsoft.com/office/drawing/2014/main" id="{FC5DE896-DB8C-801C-78BC-BD8D9E195D6D}"/>
              </a:ext>
            </a:extLst>
          </p:cNvPr>
          <p:cNvSpPr txBox="1"/>
          <p:nvPr/>
        </p:nvSpPr>
        <p:spPr>
          <a:xfrm>
            <a:off x="794263" y="1616070"/>
            <a:ext cx="10485120" cy="37820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model supports </a:t>
            </a:r>
            <a:r>
              <a:rPr lang="en-US" b="1">
                <a:latin typeface="Times New Roman" panose="02020603050405020304" pitchFamily="18" charset="0"/>
                <a:cs typeface="Times New Roman" panose="02020603050405020304" pitchFamily="18" charset="0"/>
              </a:rPr>
              <a:t>multi-output regression</a:t>
            </a:r>
            <a:r>
              <a:rPr lang="en-US">
                <a:latin typeface="Times New Roman" panose="02020603050405020304" pitchFamily="18" charset="0"/>
                <a:cs typeface="Times New Roman" panose="02020603050405020304" pitchFamily="18" charset="0"/>
              </a:rPr>
              <a:t>, with four parallel output heads for magnitude, distance, azimuth, and depth.</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Mean Squared Error (MSE)</a:t>
            </a:r>
            <a:r>
              <a:rPr lang="en-US">
                <a:latin typeface="Times New Roman" panose="02020603050405020304" pitchFamily="18" charset="0"/>
                <a:cs typeface="Times New Roman" panose="02020603050405020304" pitchFamily="18" charset="0"/>
              </a:rPr>
              <a:t> is used as the loss function, optimized jointly across all output parameters.</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Monte Carlo Dropout</a:t>
            </a:r>
            <a:r>
              <a:rPr lang="en-US">
                <a:latin typeface="Times New Roman" panose="02020603050405020304" pitchFamily="18" charset="0"/>
                <a:cs typeface="Times New Roman" panose="02020603050405020304" pitchFamily="18" charset="0"/>
              </a:rPr>
              <a:t> is enabled during inference to estimate predictive uncertainty for safety-critical early warning decisions.</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EarlyStopping</a:t>
            </a:r>
            <a:r>
              <a:rPr lang="en-US">
                <a:latin typeface="Times New Roman" panose="02020603050405020304" pitchFamily="18" charset="0"/>
                <a:cs typeface="Times New Roman" panose="02020603050405020304" pitchFamily="18" charset="0"/>
              </a:rPr>
              <a:t> and </a:t>
            </a:r>
            <a:r>
              <a:rPr lang="en-US" b="1">
                <a:latin typeface="Times New Roman" panose="02020603050405020304" pitchFamily="18" charset="0"/>
                <a:cs typeface="Times New Roman" panose="02020603050405020304" pitchFamily="18" charset="0"/>
              </a:rPr>
              <a:t>ReduceLROnPlateau</a:t>
            </a:r>
            <a:r>
              <a:rPr lang="en-US">
                <a:latin typeface="Times New Roman" panose="02020603050405020304" pitchFamily="18" charset="0"/>
                <a:cs typeface="Times New Roman" panose="02020603050405020304" pitchFamily="18" charset="0"/>
              </a:rPr>
              <a:t> callbacks are used to stabilize training and dynamically adjust the learning rate.</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Model interpretability is achieved through </a:t>
            </a:r>
            <a:r>
              <a:rPr lang="en-US" b="1">
                <a:latin typeface="Times New Roman" panose="02020603050405020304" pitchFamily="18" charset="0"/>
                <a:cs typeface="Times New Roman" panose="02020603050405020304" pitchFamily="18" charset="0"/>
              </a:rPr>
              <a:t>Transformer attention maps</a:t>
            </a:r>
            <a:r>
              <a:rPr lang="en-US">
                <a:latin typeface="Times New Roman" panose="02020603050405020304" pitchFamily="18" charset="0"/>
                <a:cs typeface="Times New Roman" panose="02020603050405020304" pitchFamily="18" charset="0"/>
              </a:rPr>
              <a:t> and </a:t>
            </a:r>
            <a:r>
              <a:rPr lang="en-US" b="1">
                <a:latin typeface="Times New Roman" panose="02020603050405020304" pitchFamily="18" charset="0"/>
                <a:cs typeface="Times New Roman" panose="02020603050405020304" pitchFamily="18" charset="0"/>
              </a:rPr>
              <a:t>SHAP-based feature importance analysis</a:t>
            </a:r>
            <a:r>
              <a:rPr lang="en-US">
                <a:latin typeface="Times New Roman" panose="02020603050405020304" pitchFamily="18" charset="0"/>
                <a:cs typeface="Times New Roman" panose="02020603050405020304" pitchFamily="18" charset="0"/>
              </a:rPr>
              <a:t>, improving transparency and trust.</a:t>
            </a:r>
          </a:p>
        </p:txBody>
      </p:sp>
    </p:spTree>
    <p:extLst>
      <p:ext uri="{BB962C8B-B14F-4D97-AF65-F5344CB8AC3E}">
        <p14:creationId xmlns:p14="http://schemas.microsoft.com/office/powerpoint/2010/main" val="51474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18297EAB-AF6C-939F-D1A3-618F458BB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777DF6BC-86C0-9D05-429C-0D578B6F3090}"/>
              </a:ext>
            </a:extLst>
          </p:cNvPr>
          <p:cNvSpPr txBox="1"/>
          <p:nvPr/>
        </p:nvSpPr>
        <p:spPr>
          <a:xfrm>
            <a:off x="838200" y="703641"/>
            <a:ext cx="4312228" cy="461665"/>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Software Specifications:</a:t>
            </a:r>
          </a:p>
        </p:txBody>
      </p:sp>
      <p:sp>
        <p:nvSpPr>
          <p:cNvPr id="4" name="TextBox 3">
            <a:extLst>
              <a:ext uri="{FF2B5EF4-FFF2-40B4-BE49-F238E27FC236}">
                <a16:creationId xmlns:a16="http://schemas.microsoft.com/office/drawing/2014/main" id="{E23474F1-6D68-BDA4-0A7F-64C528D6DCC9}"/>
              </a:ext>
            </a:extLst>
          </p:cNvPr>
          <p:cNvSpPr txBox="1"/>
          <p:nvPr/>
        </p:nvSpPr>
        <p:spPr>
          <a:xfrm>
            <a:off x="1681595" y="1210803"/>
            <a:ext cx="8977746"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Operating System</a:t>
            </a:r>
            <a:r>
              <a:rPr lang="en-US" b="1">
                <a:latin typeface="Times New Roman" panose="02020603050405020304" pitchFamily="18" charset="0"/>
                <a:cs typeface="Times New Roman" panose="02020603050405020304" pitchFamily="18" charset="0"/>
              </a:rPr>
              <a:t>:</a:t>
            </a:r>
            <a:r>
              <a:rPr lang="en-US">
                <a:latin typeface="Times New Roman" panose="02020603050405020304" pitchFamily="18" charset="0"/>
                <a:cs typeface="Times New Roman" panose="02020603050405020304" pitchFamily="18" charset="0"/>
              </a:rPr>
              <a:t>  Implemented and tested in a Linux/Windows environment compatible with GPU acceleration for deep learning tasks.</a:t>
            </a:r>
          </a:p>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Programming Language: </a:t>
            </a:r>
            <a:r>
              <a:rPr lang="en-US">
                <a:latin typeface="Times New Roman" panose="02020603050405020304" pitchFamily="18" charset="0"/>
                <a:cs typeface="Times New Roman" panose="02020603050405020304" pitchFamily="18" charset="0"/>
              </a:rPr>
              <a:t>Developed entirely in Python, chosen for its efficiency in scientific computing and machine learning</a:t>
            </a:r>
            <a:r>
              <a:rPr lang="en-US" b="1">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Libraries and Frameworks: </a:t>
            </a:r>
            <a:r>
              <a:rPr lang="en-US">
                <a:latin typeface="Times New Roman" panose="02020603050405020304" pitchFamily="18" charset="0"/>
                <a:cs typeface="Times New Roman" panose="02020603050405020304" pitchFamily="18" charset="0"/>
              </a:rPr>
              <a:t>Utilizes TensorFlow, Keras, NumPy, and SciPy for model building, training, and signal preprocessing.</a:t>
            </a:r>
          </a:p>
          <a:p>
            <a:pPr marL="285750" indent="-285750">
              <a:buFont typeface="Arial" panose="020B0604020202020204" pitchFamily="34" charset="0"/>
              <a:buChar char="•"/>
            </a:pPr>
            <a:r>
              <a:rPr lang="en-US" b="1">
                <a:latin typeface="Times New Roman" panose="02020603050405020304" pitchFamily="18" charset="0"/>
                <a:cs typeface="Times New Roman" panose="02020603050405020304" pitchFamily="18" charset="0"/>
              </a:rPr>
              <a:t>Development Tools</a:t>
            </a:r>
            <a:r>
              <a:rPr lang="en-US">
                <a:latin typeface="Times New Roman" panose="02020603050405020304" pitchFamily="18" charset="0"/>
                <a:cs typeface="Times New Roman" panose="02020603050405020304" pitchFamily="18" charset="0"/>
              </a:rPr>
              <a:t>: Jupyter Notebook or similar IDE used for experimentation, visualization, and integration of training scripts with callbacks.</a:t>
            </a:r>
          </a:p>
        </p:txBody>
      </p:sp>
      <p:sp>
        <p:nvSpPr>
          <p:cNvPr id="5" name="TextBox 4">
            <a:extLst>
              <a:ext uri="{FF2B5EF4-FFF2-40B4-BE49-F238E27FC236}">
                <a16:creationId xmlns:a16="http://schemas.microsoft.com/office/drawing/2014/main" id="{13D9A1D0-9727-80D3-4F2C-CE40598EB861}"/>
              </a:ext>
            </a:extLst>
          </p:cNvPr>
          <p:cNvSpPr txBox="1"/>
          <p:nvPr/>
        </p:nvSpPr>
        <p:spPr>
          <a:xfrm>
            <a:off x="838200" y="3828622"/>
            <a:ext cx="4603173" cy="461665"/>
          </a:xfrm>
          <a:prstGeom prst="rect">
            <a:avLst/>
          </a:prstGeom>
          <a:noFill/>
        </p:spPr>
        <p:txBody>
          <a:bodyPr wrap="square" rtlCol="0">
            <a:spAutoFit/>
          </a:bodyPr>
          <a:lstStyle/>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Hardware Specifications:</a:t>
            </a:r>
          </a:p>
        </p:txBody>
      </p:sp>
      <p:sp>
        <p:nvSpPr>
          <p:cNvPr id="6" name="TextBox 5">
            <a:extLst>
              <a:ext uri="{FF2B5EF4-FFF2-40B4-BE49-F238E27FC236}">
                <a16:creationId xmlns:a16="http://schemas.microsoft.com/office/drawing/2014/main" id="{9305074A-4D94-BE80-BCE6-FB63DF678CE9}"/>
              </a:ext>
            </a:extLst>
          </p:cNvPr>
          <p:cNvSpPr txBox="1"/>
          <p:nvPr/>
        </p:nvSpPr>
        <p:spPr>
          <a:xfrm>
            <a:off x="1681595" y="4384861"/>
            <a:ext cx="9268692"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Intel Core i5 or above </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RAM:</a:t>
            </a:r>
            <a:r>
              <a:rPr lang="en-US" dirty="0">
                <a:latin typeface="Times New Roman" panose="02020603050405020304" pitchFamily="18" charset="0"/>
                <a:cs typeface="Times New Roman" panose="02020603050405020304" pitchFamily="18" charset="0"/>
              </a:rPr>
              <a:t> Minimum 8 GB (16 GB recommended)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Storage:</a:t>
            </a:r>
            <a:r>
              <a:rPr lang="en-US" dirty="0">
                <a:latin typeface="Times New Roman" panose="02020603050405020304" pitchFamily="18" charset="0"/>
                <a:cs typeface="Times New Roman" panose="02020603050405020304" pitchFamily="18" charset="0"/>
              </a:rPr>
              <a:t> Minimum 10 GB free space</a:t>
            </a:r>
          </a:p>
        </p:txBody>
      </p:sp>
      <p:sp>
        <p:nvSpPr>
          <p:cNvPr id="14" name="Footer Placeholder 13">
            <a:extLst>
              <a:ext uri="{FF2B5EF4-FFF2-40B4-BE49-F238E27FC236}">
                <a16:creationId xmlns:a16="http://schemas.microsoft.com/office/drawing/2014/main" id="{48149D2D-6A07-2CBB-9866-C8A8819B24F1}"/>
              </a:ext>
            </a:extLst>
          </p:cNvPr>
          <p:cNvSpPr>
            <a:spLocks noGrp="1"/>
          </p:cNvSpPr>
          <p:nvPr>
            <p:ph type="ftr" sz="quarter" idx="11"/>
          </p:nvPr>
        </p:nvSpPr>
        <p:spPr>
          <a:xfrm>
            <a:off x="4038600" y="6356350"/>
            <a:ext cx="4263736" cy="365125"/>
          </a:xfrm>
        </p:spPr>
        <p:txBody>
          <a:bodyPr/>
          <a:lstStyle/>
          <a:p>
            <a:r>
              <a:rPr lang="en-US"/>
              <a:t>Batch No.DG-5            Department of CSE</a:t>
            </a:r>
            <a:endParaRPr lang="en-US" dirty="0"/>
          </a:p>
        </p:txBody>
      </p:sp>
      <p:sp>
        <p:nvSpPr>
          <p:cNvPr id="15" name="Slide Number Placeholder 14">
            <a:extLst>
              <a:ext uri="{FF2B5EF4-FFF2-40B4-BE49-F238E27FC236}">
                <a16:creationId xmlns:a16="http://schemas.microsoft.com/office/drawing/2014/main" id="{70F7FB18-78E8-970B-F846-5EE82A40CE3C}"/>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24</a:t>
            </a:fld>
            <a:endParaRPr lang="en-US"/>
          </a:p>
        </p:txBody>
      </p:sp>
    </p:spTree>
    <p:extLst>
      <p:ext uri="{BB962C8B-B14F-4D97-AF65-F5344CB8AC3E}">
        <p14:creationId xmlns:p14="http://schemas.microsoft.com/office/powerpoint/2010/main" val="1714098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08A8264E-1DC7-3E01-A1BB-33159DA992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AC65417A-0B05-3F26-DF2F-023BB8B9821F}"/>
              </a:ext>
            </a:extLst>
          </p:cNvPr>
          <p:cNvSpPr txBox="1"/>
          <p:nvPr/>
        </p:nvSpPr>
        <p:spPr>
          <a:xfrm>
            <a:off x="393291" y="891048"/>
            <a:ext cx="4935793" cy="461665"/>
          </a:xfrm>
          <a:prstGeom prst="rect">
            <a:avLst/>
          </a:prstGeom>
          <a:noFill/>
        </p:spPr>
        <p:txBody>
          <a:bodyPr wrap="square" rtlCol="0">
            <a:spAutoFit/>
          </a:bodyPr>
          <a:lstStyle/>
          <a:p>
            <a:pPr marL="457200" indent="-457200" algn="ct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Challenges Faced and Solutions:</a:t>
            </a:r>
          </a:p>
        </p:txBody>
      </p:sp>
      <p:sp>
        <p:nvSpPr>
          <p:cNvPr id="12" name="Footer Placeholder 11">
            <a:extLst>
              <a:ext uri="{FF2B5EF4-FFF2-40B4-BE49-F238E27FC236}">
                <a16:creationId xmlns:a16="http://schemas.microsoft.com/office/drawing/2014/main" id="{9BCBFC1E-3AF5-D98F-4F8D-76196C6E6F6B}"/>
              </a:ext>
            </a:extLst>
          </p:cNvPr>
          <p:cNvSpPr>
            <a:spLocks noGrp="1"/>
          </p:cNvSpPr>
          <p:nvPr>
            <p:ph type="ftr" sz="quarter" idx="11"/>
          </p:nvPr>
        </p:nvSpPr>
        <p:spPr>
          <a:xfrm>
            <a:off x="4038599" y="6356350"/>
            <a:ext cx="4357255" cy="365125"/>
          </a:xfrm>
        </p:spPr>
        <p:txBody>
          <a:bodyPr/>
          <a:lstStyle/>
          <a:p>
            <a:r>
              <a:rPr lang="en-US"/>
              <a:t>Batch No.DG-5            Department of CSE</a:t>
            </a:r>
            <a:endParaRPr lang="en-US" dirty="0"/>
          </a:p>
        </p:txBody>
      </p:sp>
      <p:sp>
        <p:nvSpPr>
          <p:cNvPr id="13" name="Slide Number Placeholder 12">
            <a:extLst>
              <a:ext uri="{FF2B5EF4-FFF2-40B4-BE49-F238E27FC236}">
                <a16:creationId xmlns:a16="http://schemas.microsoft.com/office/drawing/2014/main" id="{F4CB476B-6D84-2FF0-1267-6A299D54A67C}"/>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25</a:t>
            </a:fld>
            <a:endParaRPr lang="en-US"/>
          </a:p>
        </p:txBody>
      </p:sp>
      <p:sp>
        <p:nvSpPr>
          <p:cNvPr id="4" name="TextBox 3">
            <a:extLst>
              <a:ext uri="{FF2B5EF4-FFF2-40B4-BE49-F238E27FC236}">
                <a16:creationId xmlns:a16="http://schemas.microsoft.com/office/drawing/2014/main" id="{BF21F4CF-F677-B2BE-F558-11FF43E834D3}"/>
              </a:ext>
            </a:extLst>
          </p:cNvPr>
          <p:cNvSpPr txBox="1"/>
          <p:nvPr/>
        </p:nvSpPr>
        <p:spPr>
          <a:xfrm>
            <a:off x="1061885" y="1474074"/>
            <a:ext cx="9645444" cy="4247317"/>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Challenge 1: Handling complex, noisy seismic signals.</a:t>
            </a:r>
          </a:p>
          <a:p>
            <a:r>
              <a:rPr lang="en-US">
                <a:latin typeface="Times New Roman" panose="02020603050405020304" pitchFamily="18" charset="0"/>
                <a:cs typeface="Times New Roman" panose="02020603050405020304" pitchFamily="18" charset="0"/>
              </a:rPr>
              <a:t>Solution: Applied preprocessing and normalization techniques to remove noise and enhance             waveform quality.  </a:t>
            </a:r>
          </a:p>
          <a:p>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Challenge 2: Capturing long-term temporal dependencies.</a:t>
            </a:r>
          </a:p>
          <a:p>
            <a:r>
              <a:rPr lang="en-US">
                <a:latin typeface="Times New Roman" panose="02020603050405020304" pitchFamily="18" charset="0"/>
                <a:cs typeface="Times New Roman" panose="02020603050405020304" pitchFamily="18" charset="0"/>
              </a:rPr>
              <a:t>Solution: Integrated BiLSTM and Transformer layers to learn sequential and contextual relationships effectively.</a:t>
            </a:r>
          </a:p>
          <a:p>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Challenge 3: Lack of model interpretability.</a:t>
            </a:r>
          </a:p>
          <a:p>
            <a:r>
              <a:rPr lang="en-US">
                <a:latin typeface="Times New Roman" panose="02020603050405020304" pitchFamily="18" charset="0"/>
                <a:cs typeface="Times New Roman" panose="02020603050405020304" pitchFamily="18" charset="0"/>
              </a:rPr>
              <a:t>Solution: Used SHAP analysis to visualize and explain the contribution of features in prediction outcomes.</a:t>
            </a:r>
          </a:p>
          <a:p>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Challenge 4: Uncertainty in prediction results.</a:t>
            </a:r>
          </a:p>
          <a:p>
            <a:r>
              <a:rPr lang="en-US">
                <a:latin typeface="Times New Roman" panose="02020603050405020304" pitchFamily="18" charset="0"/>
                <a:cs typeface="Times New Roman" panose="02020603050405020304" pitchFamily="18" charset="0"/>
              </a:rPr>
              <a:t>Solution: Implemented Monte Carlo Dropout to estimate model uncertainty and improve prediction reliability.</a:t>
            </a:r>
          </a:p>
        </p:txBody>
      </p:sp>
    </p:spTree>
    <p:extLst>
      <p:ext uri="{BB962C8B-B14F-4D97-AF65-F5344CB8AC3E}">
        <p14:creationId xmlns:p14="http://schemas.microsoft.com/office/powerpoint/2010/main" val="1179852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3A678CA9-14C2-E6F6-6F03-D4DB587E5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3B50C286-210A-1F3F-ED66-6C835025E8AB}"/>
              </a:ext>
            </a:extLst>
          </p:cNvPr>
          <p:cNvSpPr txBox="1"/>
          <p:nvPr/>
        </p:nvSpPr>
        <p:spPr>
          <a:xfrm>
            <a:off x="4061937" y="717754"/>
            <a:ext cx="468720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RESULTS &amp; ANALYSIS</a:t>
            </a:r>
          </a:p>
        </p:txBody>
      </p:sp>
      <p:sp>
        <p:nvSpPr>
          <p:cNvPr id="4" name="TextBox 3">
            <a:extLst>
              <a:ext uri="{FF2B5EF4-FFF2-40B4-BE49-F238E27FC236}">
                <a16:creationId xmlns:a16="http://schemas.microsoft.com/office/drawing/2014/main" id="{52FC2E08-176E-25DC-C433-316F21DFE515}"/>
              </a:ext>
            </a:extLst>
          </p:cNvPr>
          <p:cNvSpPr txBox="1"/>
          <p:nvPr/>
        </p:nvSpPr>
        <p:spPr>
          <a:xfrm>
            <a:off x="838200" y="1459560"/>
            <a:ext cx="4687208" cy="461665"/>
          </a:xfrm>
          <a:prstGeom prst="rect">
            <a:avLst/>
          </a:prstGeom>
          <a:noFill/>
        </p:spPr>
        <p:txBody>
          <a:bodyPr wrap="square" rtlCol="0">
            <a:spAutoFit/>
          </a:bodyPr>
          <a:lstStyle/>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Evaluation Methodology:</a:t>
            </a:r>
          </a:p>
        </p:txBody>
      </p:sp>
      <p:sp>
        <p:nvSpPr>
          <p:cNvPr id="5" name="TextBox 4">
            <a:extLst>
              <a:ext uri="{FF2B5EF4-FFF2-40B4-BE49-F238E27FC236}">
                <a16:creationId xmlns:a16="http://schemas.microsoft.com/office/drawing/2014/main" id="{D46A4738-C6DD-AC72-E5AE-8802752E0343}"/>
              </a:ext>
            </a:extLst>
          </p:cNvPr>
          <p:cNvSpPr txBox="1"/>
          <p:nvPr/>
        </p:nvSpPr>
        <p:spPr>
          <a:xfrm>
            <a:off x="1322774" y="2139811"/>
            <a:ext cx="9008918" cy="3693319"/>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model’s performance is assessed on a held-out test set comprising 15% of the total dataset.</a:t>
            </a:r>
          </a:p>
          <a:p>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Evaluation focuses on four continuous parameters — magnitude, epicentral distance, azimuth, and focal depth.</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Mean Absolute Error (MAE), Mean Squared Error (MSE), and R² Score are used as primary regression metrics.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Predictions are compared against ground-truth values to assess accuracy, bias, and variance.</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Monte Carlo Dropout is used during inference to estimate prediction uncertainty and assess reliability.</a:t>
            </a:r>
            <a:endParaRPr lang="en-US" dirty="0">
              <a:latin typeface="Times New Roman" panose="02020603050405020304" pitchFamily="18" charset="0"/>
              <a:cs typeface="Times New Roman" panose="02020603050405020304" pitchFamily="18" charset="0"/>
            </a:endParaRPr>
          </a:p>
        </p:txBody>
      </p:sp>
      <p:sp>
        <p:nvSpPr>
          <p:cNvPr id="13" name="Footer Placeholder 12">
            <a:extLst>
              <a:ext uri="{FF2B5EF4-FFF2-40B4-BE49-F238E27FC236}">
                <a16:creationId xmlns:a16="http://schemas.microsoft.com/office/drawing/2014/main" id="{0B2B1304-4985-A1DA-94B5-2A9FECD42465}"/>
              </a:ext>
            </a:extLst>
          </p:cNvPr>
          <p:cNvSpPr>
            <a:spLocks noGrp="1"/>
          </p:cNvSpPr>
          <p:nvPr>
            <p:ph type="ftr" sz="quarter" idx="11"/>
          </p:nvPr>
        </p:nvSpPr>
        <p:spPr>
          <a:xfrm>
            <a:off x="4038600" y="6356350"/>
            <a:ext cx="4263736" cy="365125"/>
          </a:xfrm>
        </p:spPr>
        <p:txBody>
          <a:bodyPr/>
          <a:lstStyle/>
          <a:p>
            <a:r>
              <a:rPr lang="en-US"/>
              <a:t>Batch No.DG-5            Department of CSE</a:t>
            </a:r>
            <a:endParaRPr lang="en-US" dirty="0"/>
          </a:p>
        </p:txBody>
      </p:sp>
      <p:sp>
        <p:nvSpPr>
          <p:cNvPr id="14" name="Slide Number Placeholder 13">
            <a:extLst>
              <a:ext uri="{FF2B5EF4-FFF2-40B4-BE49-F238E27FC236}">
                <a16:creationId xmlns:a16="http://schemas.microsoft.com/office/drawing/2014/main" id="{934ACE88-B3D0-2E03-5E7C-F288DB2B6F7B}"/>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26</a:t>
            </a:fld>
            <a:endParaRPr lang="en-US"/>
          </a:p>
        </p:txBody>
      </p:sp>
    </p:spTree>
    <p:extLst>
      <p:ext uri="{BB962C8B-B14F-4D97-AF65-F5344CB8AC3E}">
        <p14:creationId xmlns:p14="http://schemas.microsoft.com/office/powerpoint/2010/main" val="757243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E31C79D1-6541-5A68-5344-32F3DAAC8A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8B3C33FA-ECF7-80AE-998F-381FF1A38A96}"/>
              </a:ext>
            </a:extLst>
          </p:cNvPr>
          <p:cNvSpPr txBox="1"/>
          <p:nvPr/>
        </p:nvSpPr>
        <p:spPr>
          <a:xfrm>
            <a:off x="779317" y="976746"/>
            <a:ext cx="4145973" cy="461665"/>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Quantitative Comparison:</a:t>
            </a:r>
          </a:p>
        </p:txBody>
      </p:sp>
      <p:graphicFrame>
        <p:nvGraphicFramePr>
          <p:cNvPr id="5" name="Table 4">
            <a:extLst>
              <a:ext uri="{FF2B5EF4-FFF2-40B4-BE49-F238E27FC236}">
                <a16:creationId xmlns:a16="http://schemas.microsoft.com/office/drawing/2014/main" id="{7BE69F63-8153-E659-0C29-052397C523AD}"/>
              </a:ext>
            </a:extLst>
          </p:cNvPr>
          <p:cNvGraphicFramePr>
            <a:graphicFrameLocks noGrp="1"/>
          </p:cNvGraphicFramePr>
          <p:nvPr>
            <p:extLst>
              <p:ext uri="{D42A27DB-BD31-4B8C-83A1-F6EECF244321}">
                <p14:modId xmlns:p14="http://schemas.microsoft.com/office/powerpoint/2010/main" val="1329903824"/>
              </p:ext>
            </p:extLst>
          </p:nvPr>
        </p:nvGraphicFramePr>
        <p:xfrm>
          <a:off x="2458064" y="1520723"/>
          <a:ext cx="6535996" cy="4290142"/>
        </p:xfrm>
        <a:graphic>
          <a:graphicData uri="http://schemas.openxmlformats.org/drawingml/2006/table">
            <a:tbl>
              <a:tblPr firstRow="1" bandRow="1">
                <a:tableStyleId>{5C22544A-7EE6-4342-B048-85BDC9FD1C3A}</a:tableStyleId>
              </a:tblPr>
              <a:tblGrid>
                <a:gridCol w="1633999">
                  <a:extLst>
                    <a:ext uri="{9D8B030D-6E8A-4147-A177-3AD203B41FA5}">
                      <a16:colId xmlns:a16="http://schemas.microsoft.com/office/drawing/2014/main" val="1678724613"/>
                    </a:ext>
                  </a:extLst>
                </a:gridCol>
                <a:gridCol w="1633999">
                  <a:extLst>
                    <a:ext uri="{9D8B030D-6E8A-4147-A177-3AD203B41FA5}">
                      <a16:colId xmlns:a16="http://schemas.microsoft.com/office/drawing/2014/main" val="3787421641"/>
                    </a:ext>
                  </a:extLst>
                </a:gridCol>
                <a:gridCol w="1633999">
                  <a:extLst>
                    <a:ext uri="{9D8B030D-6E8A-4147-A177-3AD203B41FA5}">
                      <a16:colId xmlns:a16="http://schemas.microsoft.com/office/drawing/2014/main" val="965489209"/>
                    </a:ext>
                  </a:extLst>
                </a:gridCol>
                <a:gridCol w="1633999">
                  <a:extLst>
                    <a:ext uri="{9D8B030D-6E8A-4147-A177-3AD203B41FA5}">
                      <a16:colId xmlns:a16="http://schemas.microsoft.com/office/drawing/2014/main" val="2595795977"/>
                    </a:ext>
                  </a:extLst>
                </a:gridCol>
              </a:tblGrid>
              <a:tr h="864739">
                <a:tc>
                  <a:txBody>
                    <a:bodyPr/>
                    <a:lstStyle/>
                    <a:p>
                      <a:pPr algn="ctr"/>
                      <a:r>
                        <a:rPr lang="en-US" sz="2000">
                          <a:solidFill>
                            <a:schemeClr val="tx1"/>
                          </a:solidFill>
                          <a:latin typeface="Times New Roman" panose="02020603050405020304" pitchFamily="18" charset="0"/>
                          <a:cs typeface="Times New Roman" panose="02020603050405020304" pitchFamily="18" charset="0"/>
                        </a:rPr>
                        <a:t>Parameter</a:t>
                      </a:r>
                      <a:endParaRPr 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solidFill>
                            <a:schemeClr val="tx1"/>
                          </a:solidFill>
                          <a:latin typeface="Times New Roman" panose="02020603050405020304" pitchFamily="18" charset="0"/>
                          <a:cs typeface="Times New Roman" panose="02020603050405020304" pitchFamily="18" charset="0"/>
                        </a:rPr>
                        <a:t>MAE</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solidFill>
                            <a:schemeClr val="tx1"/>
                          </a:solidFill>
                          <a:latin typeface="Times New Roman" panose="02020603050405020304" pitchFamily="18" charset="0"/>
                          <a:cs typeface="Times New Roman" panose="02020603050405020304" pitchFamily="18" charset="0"/>
                        </a:rPr>
                        <a:t>MSE</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solidFill>
                            <a:schemeClr val="tx1"/>
                          </a:solidFill>
                          <a:latin typeface="Times New Roman" panose="02020603050405020304" pitchFamily="18" charset="0"/>
                          <a:cs typeface="Times New Roman" panose="02020603050405020304" pitchFamily="18" charset="0"/>
                        </a:rPr>
                        <a:t>R^2</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98679331"/>
                  </a:ext>
                </a:extLst>
              </a:tr>
              <a:tr h="864739">
                <a:tc>
                  <a:txBody>
                    <a:bodyPr/>
                    <a:lstStyle/>
                    <a:p>
                      <a:pPr algn="ctr"/>
                      <a:r>
                        <a:rPr lang="en-US" sz="2000">
                          <a:solidFill>
                            <a:schemeClr val="tx1"/>
                          </a:solidFill>
                          <a:latin typeface="Times New Roman" panose="02020603050405020304" pitchFamily="18" charset="0"/>
                          <a:cs typeface="Times New Roman" panose="02020603050405020304" pitchFamily="18" charset="0"/>
                        </a:rPr>
                        <a:t>Depth</a:t>
                      </a:r>
                      <a:endParaRPr 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latin typeface="Times New Roman" panose="02020603050405020304" pitchFamily="18" charset="0"/>
                          <a:cs typeface="Times New Roman" panose="02020603050405020304" pitchFamily="18" charset="0"/>
                        </a:rPr>
                        <a:t>2.7</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latin typeface="Times New Roman" panose="02020603050405020304" pitchFamily="18" charset="0"/>
                          <a:cs typeface="Times New Roman" panose="02020603050405020304" pitchFamily="18" charset="0"/>
                        </a:rPr>
                        <a:t>10.12</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latin typeface="Times New Roman" panose="02020603050405020304" pitchFamily="18" charset="0"/>
                          <a:cs typeface="Times New Roman" panose="02020603050405020304" pitchFamily="18" charset="0"/>
                        </a:rPr>
                        <a:t>0.90</a:t>
                      </a:r>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3000270"/>
                  </a:ext>
                </a:extLst>
              </a:tr>
              <a:tr h="849994">
                <a:tc>
                  <a:txBody>
                    <a:bodyPr/>
                    <a:lstStyle/>
                    <a:p>
                      <a:pPr algn="ctr"/>
                      <a:r>
                        <a:rPr lang="en-US" sz="2000">
                          <a:latin typeface="Times New Roman" panose="02020603050405020304" pitchFamily="18" charset="0"/>
                          <a:cs typeface="Times New Roman" panose="02020603050405020304" pitchFamily="18" charset="0"/>
                        </a:rPr>
                        <a:t>Magnitude</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a:t>0.18</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0.026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0.97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6858741"/>
                  </a:ext>
                </a:extLst>
              </a:tr>
              <a:tr h="855335">
                <a:tc>
                  <a:txBody>
                    <a:bodyPr/>
                    <a:lstStyle/>
                    <a:p>
                      <a:pPr algn="ctr"/>
                      <a:r>
                        <a:rPr lang="en-US" sz="2000">
                          <a:latin typeface="Times New Roman" panose="02020603050405020304" pitchFamily="18" charset="0"/>
                          <a:cs typeface="Times New Roman" panose="02020603050405020304" pitchFamily="18" charset="0"/>
                        </a:rPr>
                        <a:t>Distance(Km)</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5.21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33.75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0.94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0027972"/>
                  </a:ext>
                </a:extLst>
              </a:tr>
              <a:tr h="855335">
                <a:tc>
                  <a:txBody>
                    <a:bodyPr/>
                    <a:lstStyle/>
                    <a:p>
                      <a:pPr algn="ctr"/>
                      <a:r>
                        <a:rPr lang="en-US" sz="2000">
                          <a:latin typeface="Times New Roman" panose="02020603050405020304" pitchFamily="18" charset="0"/>
                          <a:cs typeface="Times New Roman" panose="02020603050405020304" pitchFamily="18" charset="0"/>
                        </a:rPr>
                        <a:t>Azimuth</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13.6</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72.40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t>0.89</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9584300"/>
                  </a:ext>
                </a:extLst>
              </a:tr>
            </a:tbl>
          </a:graphicData>
        </a:graphic>
      </p:graphicFrame>
      <p:sp>
        <p:nvSpPr>
          <p:cNvPr id="12" name="Footer Placeholder 11">
            <a:extLst>
              <a:ext uri="{FF2B5EF4-FFF2-40B4-BE49-F238E27FC236}">
                <a16:creationId xmlns:a16="http://schemas.microsoft.com/office/drawing/2014/main" id="{D7B786B6-C554-4FE5-443A-ED4D0EDE01A6}"/>
              </a:ext>
            </a:extLst>
          </p:cNvPr>
          <p:cNvSpPr>
            <a:spLocks noGrp="1"/>
          </p:cNvSpPr>
          <p:nvPr>
            <p:ph type="ftr" sz="quarter" idx="11"/>
          </p:nvPr>
        </p:nvSpPr>
        <p:spPr>
          <a:xfrm>
            <a:off x="4038599" y="6356350"/>
            <a:ext cx="4222173" cy="365125"/>
          </a:xfrm>
        </p:spPr>
        <p:txBody>
          <a:bodyPr/>
          <a:lstStyle/>
          <a:p>
            <a:r>
              <a:rPr lang="en-US"/>
              <a:t>Batch No.DG-5            Department of CSE</a:t>
            </a:r>
            <a:endParaRPr lang="en-US" dirty="0"/>
          </a:p>
        </p:txBody>
      </p:sp>
      <p:sp>
        <p:nvSpPr>
          <p:cNvPr id="13" name="Slide Number Placeholder 12">
            <a:extLst>
              <a:ext uri="{FF2B5EF4-FFF2-40B4-BE49-F238E27FC236}">
                <a16:creationId xmlns:a16="http://schemas.microsoft.com/office/drawing/2014/main" id="{D7D615EC-6F4C-934B-91CD-F893327E21C4}"/>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27</a:t>
            </a:fld>
            <a:endParaRPr lang="en-US"/>
          </a:p>
        </p:txBody>
      </p:sp>
    </p:spTree>
    <p:extLst>
      <p:ext uri="{BB962C8B-B14F-4D97-AF65-F5344CB8AC3E}">
        <p14:creationId xmlns:p14="http://schemas.microsoft.com/office/powerpoint/2010/main" val="1322994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F90590D-BE56-48C8-4ABF-0811F6AF4DFE}"/>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1CFB5399-4254-CF09-1F74-32DDF00BAC43}"/>
              </a:ext>
            </a:extLst>
          </p:cNvPr>
          <p:cNvSpPr>
            <a:spLocks noGrp="1"/>
          </p:cNvSpPr>
          <p:nvPr>
            <p:ph type="sldNum" sz="quarter" idx="12"/>
          </p:nvPr>
        </p:nvSpPr>
        <p:spPr/>
        <p:txBody>
          <a:bodyPr/>
          <a:lstStyle/>
          <a:p>
            <a:fld id="{6B82C8B7-D441-41F7-9F8A-3B05A8FD01D1}" type="slidenum">
              <a:rPr lang="en-US" smtClean="0"/>
              <a:t>28</a:t>
            </a:fld>
            <a:endParaRPr lang="en-US"/>
          </a:p>
        </p:txBody>
      </p:sp>
      <p:pic>
        <p:nvPicPr>
          <p:cNvPr id="5" name="Picture 4" descr="A close up of a logo&#10;&#10;AI-generated content may be incorrect.">
            <a:extLst>
              <a:ext uri="{FF2B5EF4-FFF2-40B4-BE49-F238E27FC236}">
                <a16:creationId xmlns:a16="http://schemas.microsoft.com/office/drawing/2014/main" id="{3EC330F3-F89F-A6AB-82DA-21AFA0A6E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7" name="Rectangle 1">
            <a:extLst>
              <a:ext uri="{FF2B5EF4-FFF2-40B4-BE49-F238E27FC236}">
                <a16:creationId xmlns:a16="http://schemas.microsoft.com/office/drawing/2014/main" id="{70B4E486-B4E6-C980-1B6F-5710D3D69DF4}"/>
              </a:ext>
            </a:extLst>
          </p:cNvPr>
          <p:cNvSpPr>
            <a:spLocks noChangeArrowheads="1"/>
          </p:cNvSpPr>
          <p:nvPr/>
        </p:nvSpPr>
        <p:spPr bwMode="auto">
          <a:xfrm>
            <a:off x="712984" y="1172763"/>
            <a:ext cx="10371576"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proposed model achieves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high accuracy across all four seismic parameters</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using only the first </a:t>
            </a: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 seconds of waveform data</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Magnitude prediction</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shows the best performance with: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MAE = 0.18</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R² = 0.97</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indicating excellent correlation with ground truth.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Epicentral distance estimation</a:t>
            </a:r>
            <a:r>
              <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is highly reliable: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MAE = 5.21 km</a:t>
            </a:r>
          </a:p>
          <a:p>
            <a:pPr lvl="0" eaLnBrk="0" fontAlgn="base" hangingPunct="0">
              <a:lnSpc>
                <a:spcPct val="150000"/>
              </a:lnSpc>
              <a:spcBef>
                <a:spcPct val="0"/>
              </a:spcBef>
              <a:spcAft>
                <a:spcPct val="0"/>
              </a:spcAft>
              <a:buFontTx/>
              <a:buChar char="•"/>
            </a:pPr>
            <a:r>
              <a:rPr lang="en-US" altLang="en-US" b="1">
                <a:latin typeface="Times New Roman" panose="02020603050405020304" pitchFamily="18" charset="0"/>
                <a:cs typeface="Times New Roman" panose="02020603050405020304" pitchFamily="18" charset="0"/>
              </a:rPr>
              <a:t>R² = 0.94</a:t>
            </a:r>
            <a:r>
              <a:rPr lang="en-US" altLang="en-US">
                <a:latin typeface="Times New Roman" panose="02020603050405020304" pitchFamily="18" charset="0"/>
                <a:cs typeface="Times New Roman" panose="02020603050405020304" pitchFamily="18" charset="0"/>
              </a:rPr>
              <a:t>, suitable for early warning applications.</a:t>
            </a:r>
          </a:p>
          <a:p>
            <a:pPr lvl="0" eaLnBrk="0" fontAlgn="base" hangingPunct="0">
              <a:lnSpc>
                <a:spcPct val="150000"/>
              </a:lnSpc>
              <a:spcBef>
                <a:spcPct val="0"/>
              </a:spcBef>
              <a:spcAft>
                <a:spcPct val="0"/>
              </a:spcAft>
              <a:buFontTx/>
              <a:buChar char="•"/>
            </a:pPr>
            <a:r>
              <a:rPr lang="en-US" altLang="en-US" b="1">
                <a:latin typeface="Times New Roman" panose="02020603050405020304" pitchFamily="18" charset="0"/>
                <a:cs typeface="Times New Roman" panose="02020603050405020304" pitchFamily="18" charset="0"/>
              </a:rPr>
              <a:t>Focal depth prediction</a:t>
            </a:r>
            <a:r>
              <a:rPr lang="en-US" altLang="en-US">
                <a:latin typeface="Times New Roman" panose="02020603050405020304" pitchFamily="18" charset="0"/>
                <a:cs typeface="Times New Roman" panose="02020603050405020304" pitchFamily="18" charset="0"/>
              </a:rPr>
              <a:t> demonstrates strong generalization:</a:t>
            </a:r>
          </a:p>
          <a:p>
            <a:pPr lvl="0" eaLnBrk="0" fontAlgn="base" hangingPunct="0">
              <a:lnSpc>
                <a:spcPct val="150000"/>
              </a:lnSpc>
              <a:spcBef>
                <a:spcPct val="0"/>
              </a:spcBef>
              <a:spcAft>
                <a:spcPct val="0"/>
              </a:spcAft>
              <a:buFontTx/>
              <a:buChar char="•"/>
            </a:pPr>
            <a:r>
              <a:rPr lang="en-US" altLang="en-US" b="1">
                <a:latin typeface="Times New Roman" panose="02020603050405020304" pitchFamily="18" charset="0"/>
                <a:cs typeface="Times New Roman" panose="02020603050405020304" pitchFamily="18" charset="0"/>
              </a:rPr>
              <a:t>Low MAE of 2.7 km</a:t>
            </a:r>
            <a:endParaRPr lang="en-US"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3925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CD3BFE5D-FF83-AA5C-0A44-7C4F5C475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3" name="TextBox 2">
            <a:extLst>
              <a:ext uri="{FF2B5EF4-FFF2-40B4-BE49-F238E27FC236}">
                <a16:creationId xmlns:a16="http://schemas.microsoft.com/office/drawing/2014/main" id="{BB352982-C977-57F5-E2FA-D10275179A7E}"/>
              </a:ext>
            </a:extLst>
          </p:cNvPr>
          <p:cNvSpPr txBox="1"/>
          <p:nvPr/>
        </p:nvSpPr>
        <p:spPr>
          <a:xfrm>
            <a:off x="838200" y="782854"/>
            <a:ext cx="4253904" cy="461665"/>
          </a:xfrm>
          <a:prstGeom prst="rect">
            <a:avLst/>
          </a:prstGeom>
          <a:noFill/>
        </p:spPr>
        <p:txBody>
          <a:bodyPr wrap="square" rtlCol="0">
            <a:spAutoFit/>
          </a:bodyPr>
          <a:lstStyle/>
          <a:p>
            <a:pPr marL="457200" indent="-4572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Results and Discussion:</a:t>
            </a:r>
          </a:p>
        </p:txBody>
      </p:sp>
      <p:sp>
        <p:nvSpPr>
          <p:cNvPr id="4" name="TextBox 3">
            <a:extLst>
              <a:ext uri="{FF2B5EF4-FFF2-40B4-BE49-F238E27FC236}">
                <a16:creationId xmlns:a16="http://schemas.microsoft.com/office/drawing/2014/main" id="{5B1B1E4E-F2E9-9DDE-E49D-D003FAE74DF1}"/>
              </a:ext>
            </a:extLst>
          </p:cNvPr>
          <p:cNvSpPr txBox="1"/>
          <p:nvPr/>
        </p:nvSpPr>
        <p:spPr>
          <a:xfrm>
            <a:off x="1718299" y="1309619"/>
            <a:ext cx="9507682" cy="4801314"/>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proposed CNN–BiLSTM–Transformer model achieved low MAE and MSE across all four predicted parameters.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R² scores indicated strong correlation between predicted and actual values, confirming high model precision.</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Joint estimation of multiple parameters improved robustness compared to isolated single-task models.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integration of metadata and handcrafted features enhanced model generalization and reduced prediction error.</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Monte Carlo Dropout provided stable uncertainty intervals, improving confidence in real-time predictions.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SHAP and attention-based visualizations revealed that early waveform segments carried the highest predictive importance, validating the physical interpretability of the model.</a:t>
            </a:r>
            <a:endParaRPr lang="en-US" dirty="0">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53D9AB23-1913-C97F-1B5C-A6E5CFDF1893}"/>
              </a:ext>
            </a:extLst>
          </p:cNvPr>
          <p:cNvSpPr>
            <a:spLocks noGrp="1"/>
          </p:cNvSpPr>
          <p:nvPr>
            <p:ph type="ftr" sz="quarter" idx="11"/>
          </p:nvPr>
        </p:nvSpPr>
        <p:spPr>
          <a:xfrm>
            <a:off x="4038599" y="6356350"/>
            <a:ext cx="4294909" cy="365125"/>
          </a:xfrm>
        </p:spPr>
        <p:txBody>
          <a:bodyPr/>
          <a:lstStyle/>
          <a:p>
            <a:r>
              <a:rPr lang="en-US"/>
              <a:t>Batch No.DG-5            Department of CSE</a:t>
            </a:r>
            <a:endParaRPr lang="en-US" dirty="0"/>
          </a:p>
        </p:txBody>
      </p:sp>
      <p:sp>
        <p:nvSpPr>
          <p:cNvPr id="13" name="Slide Number Placeholder 12">
            <a:extLst>
              <a:ext uri="{FF2B5EF4-FFF2-40B4-BE49-F238E27FC236}">
                <a16:creationId xmlns:a16="http://schemas.microsoft.com/office/drawing/2014/main" id="{D1A455D1-EF16-5066-3534-4B56A936060F}"/>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29</a:t>
            </a:fld>
            <a:endParaRPr lang="en-US"/>
          </a:p>
        </p:txBody>
      </p:sp>
    </p:spTree>
    <p:extLst>
      <p:ext uri="{BB962C8B-B14F-4D97-AF65-F5344CB8AC3E}">
        <p14:creationId xmlns:p14="http://schemas.microsoft.com/office/powerpoint/2010/main" val="3935828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7C331B-A8FA-CACC-BF8D-487162F0B9AC}"/>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6B4884AF-5375-8F55-B174-0CD3645C6C84}"/>
              </a:ext>
            </a:extLst>
          </p:cNvPr>
          <p:cNvSpPr>
            <a:spLocks noGrp="1"/>
          </p:cNvSpPr>
          <p:nvPr>
            <p:ph type="sldNum" sz="quarter" idx="12"/>
          </p:nvPr>
        </p:nvSpPr>
        <p:spPr/>
        <p:txBody>
          <a:bodyPr/>
          <a:lstStyle/>
          <a:p>
            <a:fld id="{6B82C8B7-D441-41F7-9F8A-3B05A8FD01D1}" type="slidenum">
              <a:rPr lang="en-US" smtClean="0"/>
              <a:t>30</a:t>
            </a:fld>
            <a:endParaRPr lang="en-US"/>
          </a:p>
        </p:txBody>
      </p:sp>
      <p:pic>
        <p:nvPicPr>
          <p:cNvPr id="5" name="Picture 4" descr="A close up of a logo&#10;&#10;AI-generated content may be incorrect.">
            <a:extLst>
              <a:ext uri="{FF2B5EF4-FFF2-40B4-BE49-F238E27FC236}">
                <a16:creationId xmlns:a16="http://schemas.microsoft.com/office/drawing/2014/main" id="{37459CE5-C94F-5CBE-8597-04C034413E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EAD41DC8-C375-21D1-69C9-553961EDB7B8}"/>
              </a:ext>
            </a:extLst>
          </p:cNvPr>
          <p:cNvSpPr txBox="1"/>
          <p:nvPr/>
        </p:nvSpPr>
        <p:spPr>
          <a:xfrm>
            <a:off x="614680" y="873760"/>
            <a:ext cx="6548120"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Performance Comparison with Baselines (MAE)</a:t>
            </a:r>
          </a:p>
        </p:txBody>
      </p:sp>
      <p:graphicFrame>
        <p:nvGraphicFramePr>
          <p:cNvPr id="8" name="Table 7">
            <a:extLst>
              <a:ext uri="{FF2B5EF4-FFF2-40B4-BE49-F238E27FC236}">
                <a16:creationId xmlns:a16="http://schemas.microsoft.com/office/drawing/2014/main" id="{4658247E-F9C5-8F83-AE88-9B187C4823D0}"/>
              </a:ext>
            </a:extLst>
          </p:cNvPr>
          <p:cNvGraphicFramePr>
            <a:graphicFrameLocks noGrp="1"/>
          </p:cNvGraphicFramePr>
          <p:nvPr>
            <p:extLst>
              <p:ext uri="{D42A27DB-BD31-4B8C-83A1-F6EECF244321}">
                <p14:modId xmlns:p14="http://schemas.microsoft.com/office/powerpoint/2010/main" val="998429815"/>
              </p:ext>
            </p:extLst>
          </p:nvPr>
        </p:nvGraphicFramePr>
        <p:xfrm>
          <a:off x="2023353" y="1817581"/>
          <a:ext cx="8128000" cy="3231939"/>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922621252"/>
                    </a:ext>
                  </a:extLst>
                </a:gridCol>
                <a:gridCol w="1625600">
                  <a:extLst>
                    <a:ext uri="{9D8B030D-6E8A-4147-A177-3AD203B41FA5}">
                      <a16:colId xmlns:a16="http://schemas.microsoft.com/office/drawing/2014/main" val="3706707164"/>
                    </a:ext>
                  </a:extLst>
                </a:gridCol>
                <a:gridCol w="1625600">
                  <a:extLst>
                    <a:ext uri="{9D8B030D-6E8A-4147-A177-3AD203B41FA5}">
                      <a16:colId xmlns:a16="http://schemas.microsoft.com/office/drawing/2014/main" val="3854261296"/>
                    </a:ext>
                  </a:extLst>
                </a:gridCol>
                <a:gridCol w="1625600">
                  <a:extLst>
                    <a:ext uri="{9D8B030D-6E8A-4147-A177-3AD203B41FA5}">
                      <a16:colId xmlns:a16="http://schemas.microsoft.com/office/drawing/2014/main" val="1509942130"/>
                    </a:ext>
                  </a:extLst>
                </a:gridCol>
                <a:gridCol w="1625600">
                  <a:extLst>
                    <a:ext uri="{9D8B030D-6E8A-4147-A177-3AD203B41FA5}">
                      <a16:colId xmlns:a16="http://schemas.microsoft.com/office/drawing/2014/main" val="1589506940"/>
                    </a:ext>
                  </a:extLst>
                </a:gridCol>
              </a:tblGrid>
              <a:tr h="950571">
                <a:tc>
                  <a:txBody>
                    <a:bodyPr/>
                    <a:lstStyle/>
                    <a:p>
                      <a:pPr algn="ctr"/>
                      <a:r>
                        <a:rPr lang="en-US" sz="2000">
                          <a:solidFill>
                            <a:schemeClr val="tx1"/>
                          </a:solidFill>
                          <a:latin typeface="Times New Roman" panose="02020603050405020304" pitchFamily="18" charset="0"/>
                          <a:cs typeface="Times New Roman" panose="02020603050405020304" pitchFamily="18" charset="0"/>
                        </a:rPr>
                        <a:t>Model</a:t>
                      </a:r>
                    </a:p>
                  </a:txBody>
                  <a:tcPr>
                    <a:solidFill>
                      <a:srgbClr val="FFC000"/>
                    </a:solidFill>
                  </a:tcPr>
                </a:tc>
                <a:tc>
                  <a:txBody>
                    <a:bodyPr/>
                    <a:lstStyle/>
                    <a:p>
                      <a:pPr algn="ctr"/>
                      <a:r>
                        <a:rPr lang="en-US" sz="2000">
                          <a:solidFill>
                            <a:schemeClr val="tx1"/>
                          </a:solidFill>
                          <a:latin typeface="Times New Roman" panose="02020603050405020304" pitchFamily="18" charset="0"/>
                          <a:cs typeface="Times New Roman" panose="02020603050405020304" pitchFamily="18" charset="0"/>
                        </a:rPr>
                        <a:t>Mag.</a:t>
                      </a:r>
                    </a:p>
                  </a:txBody>
                  <a:tcPr>
                    <a:solidFill>
                      <a:srgbClr val="FFC000"/>
                    </a:solidFill>
                  </a:tcPr>
                </a:tc>
                <a:tc>
                  <a:txBody>
                    <a:bodyPr/>
                    <a:lstStyle/>
                    <a:p>
                      <a:pPr algn="ctr"/>
                      <a:r>
                        <a:rPr lang="en-US" sz="2000">
                          <a:solidFill>
                            <a:schemeClr val="tx1"/>
                          </a:solidFill>
                          <a:latin typeface="Times New Roman" panose="02020603050405020304" pitchFamily="18" charset="0"/>
                          <a:cs typeface="Times New Roman" panose="02020603050405020304" pitchFamily="18" charset="0"/>
                        </a:rPr>
                        <a:t>Dist(km)</a:t>
                      </a:r>
                    </a:p>
                  </a:txBody>
                  <a:tcPr>
                    <a:solidFill>
                      <a:srgbClr val="FFC000"/>
                    </a:solidFill>
                  </a:tcPr>
                </a:tc>
                <a:tc>
                  <a:txBody>
                    <a:bodyPr/>
                    <a:lstStyle/>
                    <a:p>
                      <a:pPr algn="ctr"/>
                      <a:r>
                        <a:rPr lang="en-US" sz="2000">
                          <a:solidFill>
                            <a:schemeClr val="tx1"/>
                          </a:solidFill>
                          <a:latin typeface="Times New Roman" panose="02020603050405020304" pitchFamily="18" charset="0"/>
                          <a:cs typeface="Times New Roman" panose="02020603050405020304" pitchFamily="18" charset="0"/>
                        </a:rPr>
                        <a:t>Azim</a:t>
                      </a:r>
                    </a:p>
                  </a:txBody>
                  <a:tcPr>
                    <a:solidFill>
                      <a:srgbClr val="FFC000"/>
                    </a:solidFill>
                  </a:tcPr>
                </a:tc>
                <a:tc>
                  <a:txBody>
                    <a:bodyPr/>
                    <a:lstStyle/>
                    <a:p>
                      <a:pPr algn="ctr"/>
                      <a:r>
                        <a:rPr lang="en-US" sz="2000">
                          <a:solidFill>
                            <a:schemeClr val="tx1"/>
                          </a:solidFill>
                          <a:latin typeface="Times New Roman" panose="02020603050405020304" pitchFamily="18" charset="0"/>
                          <a:cs typeface="Times New Roman" panose="02020603050405020304" pitchFamily="18" charset="0"/>
                        </a:rPr>
                        <a:t>Depth(km)</a:t>
                      </a:r>
                    </a:p>
                  </a:txBody>
                  <a:tcPr>
                    <a:solidFill>
                      <a:srgbClr val="FFC000"/>
                    </a:solidFill>
                  </a:tcPr>
                </a:tc>
                <a:extLst>
                  <a:ext uri="{0D108BD9-81ED-4DB2-BD59-A6C34878D82A}">
                    <a16:rowId xmlns:a16="http://schemas.microsoft.com/office/drawing/2014/main" val="891354890"/>
                  </a:ext>
                </a:extLst>
              </a:tr>
              <a:tr h="760456">
                <a:tc>
                  <a:txBody>
                    <a:bodyPr/>
                    <a:lstStyle/>
                    <a:p>
                      <a:pPr algn="ctr">
                        <a:buNone/>
                      </a:pPr>
                      <a:r>
                        <a:rPr lang="en-US" sz="2000">
                          <a:latin typeface="Times New Roman" panose="02020603050405020304" pitchFamily="18" charset="0"/>
                          <a:cs typeface="Times New Roman" panose="02020603050405020304" pitchFamily="18" charset="0"/>
                        </a:rPr>
                        <a:t>CNN Only</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0.35</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15.2</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23.1</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11.4</a:t>
                      </a:r>
                    </a:p>
                  </a:txBody>
                  <a:tcPr anchor="ctr"/>
                </a:tc>
                <a:extLst>
                  <a:ext uri="{0D108BD9-81ED-4DB2-BD59-A6C34878D82A}">
                    <a16:rowId xmlns:a16="http://schemas.microsoft.com/office/drawing/2014/main" val="2046661617"/>
                  </a:ext>
                </a:extLst>
              </a:tr>
              <a:tr h="760456">
                <a:tc>
                  <a:txBody>
                    <a:bodyPr/>
                    <a:lstStyle/>
                    <a:p>
                      <a:pPr algn="ctr">
                        <a:buNone/>
                      </a:pPr>
                      <a:r>
                        <a:rPr lang="en-US" sz="2000">
                          <a:latin typeface="Times New Roman" panose="02020603050405020304" pitchFamily="18" charset="0"/>
                          <a:cs typeface="Times New Roman" panose="02020603050405020304" pitchFamily="18" charset="0"/>
                        </a:rPr>
                        <a:t>CNN Only</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0.35</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15.2</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23.1</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11.4</a:t>
                      </a:r>
                    </a:p>
                  </a:txBody>
                  <a:tcPr anchor="ctr"/>
                </a:tc>
                <a:extLst>
                  <a:ext uri="{0D108BD9-81ED-4DB2-BD59-A6C34878D82A}">
                    <a16:rowId xmlns:a16="http://schemas.microsoft.com/office/drawing/2014/main" val="3269694142"/>
                  </a:ext>
                </a:extLst>
              </a:tr>
              <a:tr h="760456">
                <a:tc>
                  <a:txBody>
                    <a:bodyPr/>
                    <a:lstStyle/>
                    <a:p>
                      <a:pPr algn="ctr">
                        <a:buNone/>
                      </a:pPr>
                      <a:r>
                        <a:rPr lang="en-US" sz="2000">
                          <a:latin typeface="Times New Roman" panose="02020603050405020304" pitchFamily="18" charset="0"/>
                          <a:cs typeface="Times New Roman" panose="02020603050405020304" pitchFamily="18" charset="0"/>
                        </a:rPr>
                        <a:t>CNN Only</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0.35</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15.2</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23.1</a:t>
                      </a:r>
                    </a:p>
                  </a:txBody>
                  <a:tcPr anchor="ctr"/>
                </a:tc>
                <a:tc>
                  <a:txBody>
                    <a:bodyPr/>
                    <a:lstStyle/>
                    <a:p>
                      <a:pPr algn="ctr">
                        <a:buNone/>
                      </a:pPr>
                      <a:r>
                        <a:rPr lang="en-US" sz="2000">
                          <a:latin typeface="Times New Roman" panose="02020603050405020304" pitchFamily="18" charset="0"/>
                          <a:cs typeface="Times New Roman" panose="02020603050405020304" pitchFamily="18" charset="0"/>
                        </a:rPr>
                        <a:t>11.4</a:t>
                      </a:r>
                    </a:p>
                  </a:txBody>
                  <a:tcPr anchor="ctr"/>
                </a:tc>
                <a:extLst>
                  <a:ext uri="{0D108BD9-81ED-4DB2-BD59-A6C34878D82A}">
                    <a16:rowId xmlns:a16="http://schemas.microsoft.com/office/drawing/2014/main" val="3132350692"/>
                  </a:ext>
                </a:extLst>
              </a:tr>
            </a:tbl>
          </a:graphicData>
        </a:graphic>
      </p:graphicFrame>
    </p:spTree>
    <p:extLst>
      <p:ext uri="{BB962C8B-B14F-4D97-AF65-F5344CB8AC3E}">
        <p14:creationId xmlns:p14="http://schemas.microsoft.com/office/powerpoint/2010/main" val="3736495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4FAA2A-4AFB-FF9F-2198-82BF7D920DF5}"/>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9EC0325E-B6B5-9F41-734A-FA90F8D9A517}"/>
              </a:ext>
            </a:extLst>
          </p:cNvPr>
          <p:cNvSpPr>
            <a:spLocks noGrp="1"/>
          </p:cNvSpPr>
          <p:nvPr>
            <p:ph type="sldNum" sz="quarter" idx="12"/>
          </p:nvPr>
        </p:nvSpPr>
        <p:spPr/>
        <p:txBody>
          <a:bodyPr/>
          <a:lstStyle/>
          <a:p>
            <a:fld id="{6B82C8B7-D441-41F7-9F8A-3B05A8FD01D1}" type="slidenum">
              <a:rPr lang="en-US" smtClean="0"/>
              <a:t>31</a:t>
            </a:fld>
            <a:endParaRPr lang="en-US"/>
          </a:p>
        </p:txBody>
      </p:sp>
      <p:pic>
        <p:nvPicPr>
          <p:cNvPr id="5" name="Picture 4" descr="A close up of a logo&#10;&#10;AI-generated content may be incorrect.">
            <a:extLst>
              <a:ext uri="{FF2B5EF4-FFF2-40B4-BE49-F238E27FC236}">
                <a16:creationId xmlns:a16="http://schemas.microsoft.com/office/drawing/2014/main" id="{728A6850-C2D1-A3CA-C758-834B016C6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9E0DE9C0-5EC3-6AF7-D9E6-8F1791DC0C78}"/>
              </a:ext>
            </a:extLst>
          </p:cNvPr>
          <p:cNvSpPr txBox="1"/>
          <p:nvPr/>
        </p:nvSpPr>
        <p:spPr>
          <a:xfrm>
            <a:off x="756920" y="1036320"/>
            <a:ext cx="10515600" cy="46130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table compares the </a:t>
            </a:r>
            <a:r>
              <a:rPr lang="en-US" b="1">
                <a:latin typeface="Times New Roman" panose="02020603050405020304" pitchFamily="18" charset="0"/>
                <a:cs typeface="Times New Roman" panose="02020603050405020304" pitchFamily="18" charset="0"/>
              </a:rPr>
              <a:t>Mean Absolute Error (MAE)</a:t>
            </a:r>
            <a:r>
              <a:rPr lang="en-US">
                <a:latin typeface="Times New Roman" panose="02020603050405020304" pitchFamily="18" charset="0"/>
                <a:cs typeface="Times New Roman" panose="02020603050405020304" pitchFamily="18" charset="0"/>
              </a:rPr>
              <a:t> of different models for predicting key earthquake parameters.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CNN-only model</a:t>
            </a:r>
            <a:r>
              <a:rPr lang="en-US">
                <a:latin typeface="Times New Roman" panose="02020603050405020304" pitchFamily="18" charset="0"/>
                <a:cs typeface="Times New Roman" panose="02020603050405020304" pitchFamily="18" charset="0"/>
              </a:rPr>
              <a:t> captures local waveform features but lacks temporal understanding, resulting in </a:t>
            </a:r>
            <a:r>
              <a:rPr lang="en-US" b="1">
                <a:latin typeface="Times New Roman" panose="02020603050405020304" pitchFamily="18" charset="0"/>
                <a:cs typeface="Times New Roman" panose="02020603050405020304" pitchFamily="18" charset="0"/>
              </a:rPr>
              <a:t>higher errors</a:t>
            </a:r>
            <a:r>
              <a:rPr lang="en-US">
                <a:latin typeface="Times New Roman" panose="02020603050405020304" pitchFamily="18" charset="0"/>
                <a:cs typeface="Times New Roman" panose="02020603050405020304" pitchFamily="18" charset="0"/>
              </a:rPr>
              <a:t>, especially for distance and depth estimation.</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BiLSTM-only model</a:t>
            </a:r>
            <a:r>
              <a:rPr lang="en-US">
                <a:latin typeface="Times New Roman" panose="02020603050405020304" pitchFamily="18" charset="0"/>
                <a:cs typeface="Times New Roman" panose="02020603050405020304" pitchFamily="18" charset="0"/>
              </a:rPr>
              <a:t> improves performance by learning temporal dependencies, leading to </a:t>
            </a:r>
            <a:r>
              <a:rPr lang="en-US" b="1">
                <a:latin typeface="Times New Roman" panose="02020603050405020304" pitchFamily="18" charset="0"/>
                <a:cs typeface="Times New Roman" panose="02020603050405020304" pitchFamily="18" charset="0"/>
              </a:rPr>
              <a:t>lower MAE than CNN-only</a:t>
            </a:r>
            <a:r>
              <a:rPr lang="en-US">
                <a:latin typeface="Times New Roman" panose="02020603050405020304" pitchFamily="18" charset="0"/>
                <a:cs typeface="Times New Roman" panose="02020603050405020304" pitchFamily="18" charset="0"/>
              </a:rPr>
              <a:t> across all parameters.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Proposed Model</a:t>
            </a:r>
            <a:r>
              <a:rPr lang="en-US">
                <a:latin typeface="Times New Roman" panose="02020603050405020304" pitchFamily="18" charset="0"/>
                <a:cs typeface="Times New Roman" panose="02020603050405020304" pitchFamily="18" charset="0"/>
              </a:rPr>
              <a:t> achieves the </a:t>
            </a:r>
            <a:r>
              <a:rPr lang="en-US" b="1">
                <a:latin typeface="Times New Roman" panose="02020603050405020304" pitchFamily="18" charset="0"/>
                <a:cs typeface="Times New Roman" panose="02020603050405020304" pitchFamily="18" charset="0"/>
              </a:rPr>
              <a:t>lowest MAE in all four parameters</a:t>
            </a:r>
            <a:r>
              <a:rPr lang="en-US">
                <a:latin typeface="Times New Roman" panose="02020603050405020304" pitchFamily="18" charset="0"/>
                <a:cs typeface="Times New Roman" panose="02020603050405020304" pitchFamily="18" charset="0"/>
              </a:rPr>
              <a:t>:</a:t>
            </a:r>
          </a:p>
          <a:p>
            <a:pPr marL="1200150" lvl="2"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Magnitude:</a:t>
            </a:r>
            <a:r>
              <a:rPr lang="en-US">
                <a:latin typeface="Times New Roman" panose="02020603050405020304" pitchFamily="18" charset="0"/>
                <a:cs typeface="Times New Roman" panose="02020603050405020304" pitchFamily="18" charset="0"/>
              </a:rPr>
              <a:t> 0.18</a:t>
            </a:r>
          </a:p>
          <a:p>
            <a:pPr marL="1200150" lvl="2"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Distance:</a:t>
            </a:r>
            <a:r>
              <a:rPr lang="en-US">
                <a:latin typeface="Times New Roman" panose="02020603050405020304" pitchFamily="18" charset="0"/>
                <a:cs typeface="Times New Roman" panose="02020603050405020304" pitchFamily="18" charset="0"/>
              </a:rPr>
              <a:t> 5.21 km</a:t>
            </a:r>
          </a:p>
          <a:p>
            <a:pPr marL="1200150" lvl="2"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Azimuth:</a:t>
            </a:r>
            <a:r>
              <a:rPr lang="en-US">
                <a:latin typeface="Times New Roman" panose="02020603050405020304" pitchFamily="18" charset="0"/>
                <a:cs typeface="Times New Roman" panose="02020603050405020304" pitchFamily="18" charset="0"/>
              </a:rPr>
              <a:t> 13.6°</a:t>
            </a:r>
          </a:p>
          <a:p>
            <a:pPr marL="1200150" lvl="2"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Depth:</a:t>
            </a:r>
            <a:r>
              <a:rPr lang="en-US">
                <a:latin typeface="Times New Roman" panose="02020603050405020304" pitchFamily="18" charset="0"/>
                <a:cs typeface="Times New Roman" panose="02020603050405020304" pitchFamily="18" charset="0"/>
              </a:rPr>
              <a:t> 2.7 km</a:t>
            </a:r>
          </a:p>
        </p:txBody>
      </p:sp>
    </p:spTree>
    <p:extLst>
      <p:ext uri="{BB962C8B-B14F-4D97-AF65-F5344CB8AC3E}">
        <p14:creationId xmlns:p14="http://schemas.microsoft.com/office/powerpoint/2010/main" val="1575378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63E1FC7-5DBE-F302-09DA-5DBC7B791ECF}"/>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2B1A3F6A-89EB-F1E7-7C37-6D9BB19DC13F}"/>
              </a:ext>
            </a:extLst>
          </p:cNvPr>
          <p:cNvSpPr>
            <a:spLocks noGrp="1"/>
          </p:cNvSpPr>
          <p:nvPr>
            <p:ph type="sldNum" sz="quarter" idx="12"/>
          </p:nvPr>
        </p:nvSpPr>
        <p:spPr/>
        <p:txBody>
          <a:bodyPr/>
          <a:lstStyle/>
          <a:p>
            <a:fld id="{6B82C8B7-D441-41F7-9F8A-3B05A8FD01D1}" type="slidenum">
              <a:rPr lang="en-US" smtClean="0"/>
              <a:t>32</a:t>
            </a:fld>
            <a:endParaRPr lang="en-US"/>
          </a:p>
        </p:txBody>
      </p:sp>
      <p:pic>
        <p:nvPicPr>
          <p:cNvPr id="5" name="Picture 4" descr="A close up of a logo&#10;&#10;AI-generated content may be incorrect.">
            <a:extLst>
              <a:ext uri="{FF2B5EF4-FFF2-40B4-BE49-F238E27FC236}">
                <a16:creationId xmlns:a16="http://schemas.microsoft.com/office/drawing/2014/main" id="{4E21B690-3A26-3FBA-62F8-5888CB6040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F64AA7BB-9ABC-580A-C7F3-CA67E647277D}"/>
              </a:ext>
            </a:extLst>
          </p:cNvPr>
          <p:cNvSpPr txBox="1"/>
          <p:nvPr/>
        </p:nvSpPr>
        <p:spPr>
          <a:xfrm>
            <a:off x="853440" y="1249680"/>
            <a:ext cx="10601960" cy="21200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This improvement is due to:</a:t>
            </a:r>
          </a:p>
          <a:p>
            <a:pPr marL="1257300" lvl="2" indent="-34290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CNN layers</a:t>
            </a:r>
            <a:r>
              <a:rPr lang="en-US">
                <a:latin typeface="Times New Roman" panose="02020603050405020304" pitchFamily="18" charset="0"/>
                <a:cs typeface="Times New Roman" panose="02020603050405020304" pitchFamily="18" charset="0"/>
              </a:rPr>
              <a:t> extracting local seismic patterns</a:t>
            </a:r>
          </a:p>
          <a:p>
            <a:pPr marL="1257300" lvl="2" indent="-34290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BiLSTM layers</a:t>
            </a:r>
            <a:r>
              <a:rPr lang="en-US">
                <a:latin typeface="Times New Roman" panose="02020603050405020304" pitchFamily="18" charset="0"/>
                <a:cs typeface="Times New Roman" panose="02020603050405020304" pitchFamily="18" charset="0"/>
              </a:rPr>
              <a:t> modeling temporal dependencies</a:t>
            </a:r>
          </a:p>
          <a:p>
            <a:pPr marL="1257300" lvl="2" indent="-34290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Transformer encoder</a:t>
            </a:r>
            <a:r>
              <a:rPr lang="en-US">
                <a:latin typeface="Times New Roman" panose="02020603050405020304" pitchFamily="18" charset="0"/>
                <a:cs typeface="Times New Roman" panose="02020603050405020304" pitchFamily="18" charset="0"/>
              </a:rPr>
              <a:t> capturing long-range relationships</a:t>
            </a:r>
          </a:p>
          <a:p>
            <a:pPr marL="1257300" lvl="2" indent="-34290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Fusion of </a:t>
            </a:r>
            <a:r>
              <a:rPr lang="en-US" b="1">
                <a:latin typeface="Times New Roman" panose="02020603050405020304" pitchFamily="18" charset="0"/>
                <a:cs typeface="Times New Roman" panose="02020603050405020304" pitchFamily="18" charset="0"/>
              </a:rPr>
              <a:t>handcrafted features and metadata</a:t>
            </a:r>
          </a:p>
        </p:txBody>
      </p:sp>
      <p:sp>
        <p:nvSpPr>
          <p:cNvPr id="8" name="TextBox 7">
            <a:extLst>
              <a:ext uri="{FF2B5EF4-FFF2-40B4-BE49-F238E27FC236}">
                <a16:creationId xmlns:a16="http://schemas.microsoft.com/office/drawing/2014/main" id="{C7E2DCD5-B033-C0F7-F8E1-3900761DD0AC}"/>
              </a:ext>
            </a:extLst>
          </p:cNvPr>
          <p:cNvSpPr txBox="1"/>
          <p:nvPr/>
        </p:nvSpPr>
        <p:spPr>
          <a:xfrm>
            <a:off x="934720" y="3931920"/>
            <a:ext cx="8199120" cy="128907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The hybrid architecture significantly outperforms single-model baselines, validating its suitability for accurate and real-time earthquake early warning systems.</a:t>
            </a:r>
          </a:p>
        </p:txBody>
      </p:sp>
    </p:spTree>
    <p:extLst>
      <p:ext uri="{BB962C8B-B14F-4D97-AF65-F5344CB8AC3E}">
        <p14:creationId xmlns:p14="http://schemas.microsoft.com/office/powerpoint/2010/main" val="3321926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logo&#10;&#10;AI-generated content may be incorrect.">
            <a:extLst>
              <a:ext uri="{FF2B5EF4-FFF2-40B4-BE49-F238E27FC236}">
                <a16:creationId xmlns:a16="http://schemas.microsoft.com/office/drawing/2014/main" id="{2627DE52-22EA-96B9-D436-7F996DBDCD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4" name="TextBox 3">
            <a:extLst>
              <a:ext uri="{FF2B5EF4-FFF2-40B4-BE49-F238E27FC236}">
                <a16:creationId xmlns:a16="http://schemas.microsoft.com/office/drawing/2014/main" id="{27248351-FE76-A831-4BCC-2918A16460ED}"/>
              </a:ext>
            </a:extLst>
          </p:cNvPr>
          <p:cNvSpPr txBox="1"/>
          <p:nvPr/>
        </p:nvSpPr>
        <p:spPr>
          <a:xfrm>
            <a:off x="3221181" y="728144"/>
            <a:ext cx="6151418"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CONCLUSION and FUTURE SCOPE</a:t>
            </a:r>
          </a:p>
        </p:txBody>
      </p:sp>
      <p:sp>
        <p:nvSpPr>
          <p:cNvPr id="5" name="TextBox 4">
            <a:extLst>
              <a:ext uri="{FF2B5EF4-FFF2-40B4-BE49-F238E27FC236}">
                <a16:creationId xmlns:a16="http://schemas.microsoft.com/office/drawing/2014/main" id="{AF84EC72-6901-4DF8-DA06-1598D019B2A0}"/>
              </a:ext>
            </a:extLst>
          </p:cNvPr>
          <p:cNvSpPr txBox="1"/>
          <p:nvPr/>
        </p:nvSpPr>
        <p:spPr>
          <a:xfrm>
            <a:off x="838200" y="1216285"/>
            <a:ext cx="2157294"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B223D779-A27F-BBB5-1526-FBC3BA0E4759}"/>
              </a:ext>
            </a:extLst>
          </p:cNvPr>
          <p:cNvSpPr txBox="1"/>
          <p:nvPr/>
        </p:nvSpPr>
        <p:spPr>
          <a:xfrm>
            <a:off x="1534447" y="1659961"/>
            <a:ext cx="8572500" cy="397031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proposed deep learning framework effectively predicts earthquake parameters using only the first 3 seconds of seismic waveform data.</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CNN–BiLSTM–Transformer fusion model demonstrated high accuracy, robustness, and reliability across multiple prediction tasks.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Integration of metadata and statistical features improved model generalization and reduced estimation errors.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Uncertainty estimation and interpretability through Monte Carlo Dropout and SHAP analysis enhanced the model’s transparency and trustworthiness for real-world applications.</a:t>
            </a:r>
            <a:endParaRPr lang="en-US" dirty="0">
              <a:latin typeface="Times New Roman" panose="02020603050405020304" pitchFamily="18" charset="0"/>
              <a:cs typeface="Times New Roman" panose="02020603050405020304" pitchFamily="18" charset="0"/>
            </a:endParaRPr>
          </a:p>
        </p:txBody>
      </p:sp>
      <p:sp>
        <p:nvSpPr>
          <p:cNvPr id="15" name="Footer Placeholder 14">
            <a:extLst>
              <a:ext uri="{FF2B5EF4-FFF2-40B4-BE49-F238E27FC236}">
                <a16:creationId xmlns:a16="http://schemas.microsoft.com/office/drawing/2014/main" id="{14BAE47A-C5C8-3E32-6906-2444F3849CC7}"/>
              </a:ext>
            </a:extLst>
          </p:cNvPr>
          <p:cNvSpPr>
            <a:spLocks noGrp="1"/>
          </p:cNvSpPr>
          <p:nvPr>
            <p:ph type="ftr" sz="quarter" idx="11"/>
          </p:nvPr>
        </p:nvSpPr>
        <p:spPr>
          <a:xfrm>
            <a:off x="4038599" y="6356350"/>
            <a:ext cx="4242955" cy="365125"/>
          </a:xfrm>
        </p:spPr>
        <p:txBody>
          <a:bodyPr/>
          <a:lstStyle/>
          <a:p>
            <a:r>
              <a:rPr lang="en-US"/>
              <a:t>Batch No.DG-5            Department of CSE</a:t>
            </a:r>
            <a:endParaRPr lang="en-US" dirty="0"/>
          </a:p>
        </p:txBody>
      </p:sp>
      <p:sp>
        <p:nvSpPr>
          <p:cNvPr id="16" name="Slide Number Placeholder 15">
            <a:extLst>
              <a:ext uri="{FF2B5EF4-FFF2-40B4-BE49-F238E27FC236}">
                <a16:creationId xmlns:a16="http://schemas.microsoft.com/office/drawing/2014/main" id="{A2D45738-15C5-6086-82F4-85CE17D5A31D}"/>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33</a:t>
            </a:fld>
            <a:endParaRPr lang="en-US"/>
          </a:p>
        </p:txBody>
      </p:sp>
    </p:spTree>
    <p:extLst>
      <p:ext uri="{BB962C8B-B14F-4D97-AF65-F5344CB8AC3E}">
        <p14:creationId xmlns:p14="http://schemas.microsoft.com/office/powerpoint/2010/main" val="4112572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FF596B4-1585-0475-E86D-97572AE4C6BC}"/>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0D0782A3-D683-8495-F7CC-873F6E9F75CF}"/>
              </a:ext>
            </a:extLst>
          </p:cNvPr>
          <p:cNvSpPr>
            <a:spLocks noGrp="1"/>
          </p:cNvSpPr>
          <p:nvPr>
            <p:ph type="sldNum" sz="quarter" idx="12"/>
          </p:nvPr>
        </p:nvSpPr>
        <p:spPr/>
        <p:txBody>
          <a:bodyPr/>
          <a:lstStyle/>
          <a:p>
            <a:fld id="{6B82C8B7-D441-41F7-9F8A-3B05A8FD01D1}" type="slidenum">
              <a:rPr lang="en-US" smtClean="0"/>
              <a:t>34</a:t>
            </a:fld>
            <a:endParaRPr lang="en-US"/>
          </a:p>
        </p:txBody>
      </p:sp>
      <p:pic>
        <p:nvPicPr>
          <p:cNvPr id="5" name="Picture 4" descr="A close up of a logo&#10;&#10;AI-generated content may be incorrect.">
            <a:extLst>
              <a:ext uri="{FF2B5EF4-FFF2-40B4-BE49-F238E27FC236}">
                <a16:creationId xmlns:a16="http://schemas.microsoft.com/office/drawing/2014/main" id="{D1C7BAD5-DE89-A66E-C9C4-ED7255500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6" name="TextBox 5">
            <a:extLst>
              <a:ext uri="{FF2B5EF4-FFF2-40B4-BE49-F238E27FC236}">
                <a16:creationId xmlns:a16="http://schemas.microsoft.com/office/drawing/2014/main" id="{52F69937-C981-0D2F-B66B-80CC7587DFDE}"/>
              </a:ext>
            </a:extLst>
          </p:cNvPr>
          <p:cNvSpPr txBox="1"/>
          <p:nvPr/>
        </p:nvSpPr>
        <p:spPr>
          <a:xfrm>
            <a:off x="589280" y="947727"/>
            <a:ext cx="5344160" cy="46166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Key Outcomes &amp; Impact:</a:t>
            </a:r>
          </a:p>
        </p:txBody>
      </p:sp>
      <p:sp>
        <p:nvSpPr>
          <p:cNvPr id="7" name="TextBox 6">
            <a:extLst>
              <a:ext uri="{FF2B5EF4-FFF2-40B4-BE49-F238E27FC236}">
                <a16:creationId xmlns:a16="http://schemas.microsoft.com/office/drawing/2014/main" id="{7B350081-6016-60AA-A4B3-931C921F8AE4}"/>
              </a:ext>
            </a:extLst>
          </p:cNvPr>
          <p:cNvSpPr txBox="1"/>
          <p:nvPr/>
        </p:nvSpPr>
        <p:spPr>
          <a:xfrm>
            <a:off x="812800" y="1448415"/>
            <a:ext cx="10241280" cy="41975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proposed system demonstrates that </a:t>
            </a:r>
            <a:r>
              <a:rPr lang="en-US" b="1">
                <a:latin typeface="Times New Roman" panose="02020603050405020304" pitchFamily="18" charset="0"/>
                <a:cs typeface="Times New Roman" panose="02020603050405020304" pitchFamily="18" charset="0"/>
              </a:rPr>
              <a:t>accurate earthquake parameter estimation is feasible within a very short time window</a:t>
            </a:r>
            <a:r>
              <a:rPr lang="en-US">
                <a:latin typeface="Times New Roman" panose="02020603050405020304" pitchFamily="18" charset="0"/>
                <a:cs typeface="Times New Roman" panose="02020603050405020304" pitchFamily="18" charset="0"/>
              </a:rPr>
              <a:t>, which is crucial for effective early warning.</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Experimental results on </a:t>
            </a:r>
            <a:r>
              <a:rPr lang="en-US" b="1">
                <a:latin typeface="Times New Roman" panose="02020603050405020304" pitchFamily="18" charset="0"/>
                <a:cs typeface="Times New Roman" panose="02020603050405020304" pitchFamily="18" charset="0"/>
              </a:rPr>
              <a:t>K-NET and KiK-net datasets</a:t>
            </a:r>
            <a:r>
              <a:rPr lang="en-US">
                <a:latin typeface="Times New Roman" panose="02020603050405020304" pitchFamily="18" charset="0"/>
                <a:cs typeface="Times New Roman" panose="02020603050405020304" pitchFamily="18" charset="0"/>
              </a:rPr>
              <a:t> confirm strong generalization across different seismic events and station locations.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The unified multi-task framework avoids staged pipelines, enabling </a:t>
            </a:r>
            <a:r>
              <a:rPr lang="en-US" b="1">
                <a:latin typeface="Times New Roman" panose="02020603050405020304" pitchFamily="18" charset="0"/>
                <a:cs typeface="Times New Roman" panose="02020603050405020304" pitchFamily="18" charset="0"/>
              </a:rPr>
              <a:t>faster inference and reduced latency</a:t>
            </a:r>
            <a:r>
              <a:rPr lang="en-US">
                <a:latin typeface="Times New Roman" panose="02020603050405020304" pitchFamily="18" charset="0"/>
                <a:cs typeface="Times New Roman" panose="02020603050405020304" pitchFamily="18" charset="0"/>
              </a:rPr>
              <a:t> for real-time applications.</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Comparative evaluation shows consistent </a:t>
            </a:r>
            <a:r>
              <a:rPr lang="en-US" b="1">
                <a:latin typeface="Times New Roman" panose="02020603050405020304" pitchFamily="18" charset="0"/>
                <a:cs typeface="Times New Roman" panose="02020603050405020304" pitchFamily="18" charset="0"/>
              </a:rPr>
              <a:t>performance improvements over CNN-only and BiLSTM-only baselines</a:t>
            </a:r>
            <a:r>
              <a:rPr lang="en-US">
                <a:latin typeface="Times New Roman" panose="02020603050405020304" pitchFamily="18" charset="0"/>
                <a:cs typeface="Times New Roman" panose="02020603050405020304" pitchFamily="18" charset="0"/>
              </a:rPr>
              <a:t>, validating the effectiveness of the proposed approach.</a:t>
            </a:r>
          </a:p>
          <a:p>
            <a:pPr marL="285750" indent="-285750">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Overall, the framework provides a </a:t>
            </a:r>
            <a:r>
              <a:rPr lang="en-US" b="1">
                <a:latin typeface="Times New Roman" panose="02020603050405020304" pitchFamily="18" charset="0"/>
                <a:cs typeface="Times New Roman" panose="02020603050405020304" pitchFamily="18" charset="0"/>
              </a:rPr>
              <a:t>reliable, interpretable, and scalable solution</a:t>
            </a:r>
            <a:r>
              <a:rPr lang="en-US">
                <a:latin typeface="Times New Roman" panose="02020603050405020304" pitchFamily="18" charset="0"/>
                <a:cs typeface="Times New Roman" panose="02020603050405020304" pitchFamily="18" charset="0"/>
              </a:rPr>
              <a:t> for next-generation Earthquake Early Warning (EEW) systems.</a:t>
            </a:r>
          </a:p>
        </p:txBody>
      </p:sp>
    </p:spTree>
    <p:extLst>
      <p:ext uri="{BB962C8B-B14F-4D97-AF65-F5344CB8AC3E}">
        <p14:creationId xmlns:p14="http://schemas.microsoft.com/office/powerpoint/2010/main" val="1169010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B129E65-0703-EED3-93E0-563A9AC55B8D}"/>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A8662693-CB66-E3A9-AE3B-AF6DDE1B7BA8}"/>
              </a:ext>
            </a:extLst>
          </p:cNvPr>
          <p:cNvSpPr>
            <a:spLocks noGrp="1"/>
          </p:cNvSpPr>
          <p:nvPr>
            <p:ph type="sldNum" sz="quarter" idx="12"/>
          </p:nvPr>
        </p:nvSpPr>
        <p:spPr/>
        <p:txBody>
          <a:bodyPr/>
          <a:lstStyle/>
          <a:p>
            <a:fld id="{6B82C8B7-D441-41F7-9F8A-3B05A8FD01D1}" type="slidenum">
              <a:rPr lang="en-US" smtClean="0"/>
              <a:t>35</a:t>
            </a:fld>
            <a:endParaRPr lang="en-US"/>
          </a:p>
        </p:txBody>
      </p:sp>
      <p:pic>
        <p:nvPicPr>
          <p:cNvPr id="5" name="Picture 4" descr="A close up of a logo&#10;&#10;AI-generated content may be incorrect.">
            <a:extLst>
              <a:ext uri="{FF2B5EF4-FFF2-40B4-BE49-F238E27FC236}">
                <a16:creationId xmlns:a16="http://schemas.microsoft.com/office/drawing/2014/main" id="{2EFFC265-8B89-9AC9-D0B3-5B359C0B8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989200" cy="717754"/>
          </a:xfrm>
          <a:prstGeom prst="rect">
            <a:avLst/>
          </a:prstGeom>
        </p:spPr>
      </p:pic>
      <p:sp>
        <p:nvSpPr>
          <p:cNvPr id="7" name="TextBox 6">
            <a:extLst>
              <a:ext uri="{FF2B5EF4-FFF2-40B4-BE49-F238E27FC236}">
                <a16:creationId xmlns:a16="http://schemas.microsoft.com/office/drawing/2014/main" id="{F54420ED-B4A8-949E-B38C-CE0602A29632}"/>
              </a:ext>
            </a:extLst>
          </p:cNvPr>
          <p:cNvSpPr txBox="1"/>
          <p:nvPr/>
        </p:nvSpPr>
        <p:spPr>
          <a:xfrm>
            <a:off x="838200" y="985372"/>
            <a:ext cx="2821858" cy="461665"/>
          </a:xfrm>
          <a:prstGeom prst="rect">
            <a:avLst/>
          </a:prstGeom>
          <a:noFill/>
        </p:spPr>
        <p:txBody>
          <a:bodyPr wrap="square" rtlCol="0">
            <a:spAutoFit/>
          </a:bodyPr>
          <a:lstStyle/>
          <a:p>
            <a:pPr marL="285750" indent="-28575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FUTURE SCOPE:</a:t>
            </a:r>
          </a:p>
        </p:txBody>
      </p:sp>
      <p:sp>
        <p:nvSpPr>
          <p:cNvPr id="11" name="TextBox 10">
            <a:extLst>
              <a:ext uri="{FF2B5EF4-FFF2-40B4-BE49-F238E27FC236}">
                <a16:creationId xmlns:a16="http://schemas.microsoft.com/office/drawing/2014/main" id="{D7620CEC-3B75-6AE5-AFE2-C3C295E69FE7}"/>
              </a:ext>
            </a:extLst>
          </p:cNvPr>
          <p:cNvSpPr txBox="1"/>
          <p:nvPr/>
        </p:nvSpPr>
        <p:spPr>
          <a:xfrm>
            <a:off x="838200" y="1689717"/>
            <a:ext cx="10515600" cy="3693319"/>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model is trained and evaluated primarily on </a:t>
            </a:r>
            <a:r>
              <a:rPr lang="en-US" b="1">
                <a:latin typeface="Times New Roman" panose="02020603050405020304" pitchFamily="18" charset="0"/>
                <a:cs typeface="Times New Roman" panose="02020603050405020304" pitchFamily="18" charset="0"/>
              </a:rPr>
              <a:t>K-NET and KiK-net datasets</a:t>
            </a:r>
            <a:r>
              <a:rPr lang="en-US">
                <a:latin typeface="Times New Roman" panose="02020603050405020304" pitchFamily="18" charset="0"/>
                <a:cs typeface="Times New Roman" panose="02020603050405020304" pitchFamily="18" charset="0"/>
              </a:rPr>
              <a:t>, which may limit generalization to other seismic regions.</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Performance may degrade when applied to </a:t>
            </a:r>
            <a:r>
              <a:rPr lang="en-US" b="1">
                <a:latin typeface="Times New Roman" panose="02020603050405020304" pitchFamily="18" charset="0"/>
                <a:cs typeface="Times New Roman" panose="02020603050405020304" pitchFamily="18" charset="0"/>
              </a:rPr>
              <a:t>noisy or low-cost seismic sensors</a:t>
            </a:r>
            <a:r>
              <a:rPr lang="en-US">
                <a:latin typeface="Times New Roman" panose="02020603050405020304" pitchFamily="18" charset="0"/>
                <a:cs typeface="Times New Roman" panose="02020603050405020304" pitchFamily="18" charset="0"/>
              </a:rPr>
              <a:t> with lower signal quality</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The approach relies on </a:t>
            </a:r>
            <a:r>
              <a:rPr lang="en-US" b="1">
                <a:latin typeface="Times New Roman" panose="02020603050405020304" pitchFamily="18" charset="0"/>
                <a:cs typeface="Times New Roman" panose="02020603050405020304" pitchFamily="18" charset="0"/>
              </a:rPr>
              <a:t>accurate P-wave arrival detection</a:t>
            </a:r>
            <a:r>
              <a:rPr lang="en-US">
                <a:latin typeface="Times New Roman" panose="02020603050405020304" pitchFamily="18" charset="0"/>
                <a:cs typeface="Times New Roman" panose="02020603050405020304" pitchFamily="18" charset="0"/>
              </a:rPr>
              <a:t>, which can affect prediction reliability if delayed or incorrect.</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Computational complexity of hybrid models (CNN–BiLSTM–Transformer) may introduce </a:t>
            </a:r>
            <a:r>
              <a:rPr lang="en-US" b="1">
                <a:latin typeface="Times New Roman" panose="02020603050405020304" pitchFamily="18" charset="0"/>
                <a:cs typeface="Times New Roman" panose="02020603050405020304" pitchFamily="18" charset="0"/>
              </a:rPr>
              <a:t>latency in resource-constrained environments</a:t>
            </a:r>
            <a:r>
              <a:rPr lang="en-US">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Real-time deployment requires </a:t>
            </a:r>
            <a:r>
              <a:rPr lang="en-US" b="1">
                <a:latin typeface="Times New Roman" panose="02020603050405020304" pitchFamily="18" charset="0"/>
                <a:cs typeface="Times New Roman" panose="02020603050405020304" pitchFamily="18" charset="0"/>
              </a:rPr>
              <a:t>robust integration with streaming seismic data pipelines</a:t>
            </a:r>
            <a:r>
              <a:rPr lang="en-US">
                <a:latin typeface="Times New Roman" panose="02020603050405020304" pitchFamily="18" charset="0"/>
                <a:cs typeface="Times New Roman" panose="02020603050405020304" pitchFamily="18" charset="0"/>
              </a:rPr>
              <a:t>, which is not yet fully implemented.</a:t>
            </a:r>
          </a:p>
        </p:txBody>
      </p:sp>
    </p:spTree>
    <p:extLst>
      <p:ext uri="{BB962C8B-B14F-4D97-AF65-F5344CB8AC3E}">
        <p14:creationId xmlns:p14="http://schemas.microsoft.com/office/powerpoint/2010/main" val="1541877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C3D7B6-F4CA-0046-CE1A-B3C7A63D5EE0}"/>
              </a:ext>
            </a:extLst>
          </p:cNvPr>
          <p:cNvPicPr>
            <a:picLocks noChangeAspect="1"/>
          </p:cNvPicPr>
          <p:nvPr/>
        </p:nvPicPr>
        <p:blipFill>
          <a:blip r:embed="rId2"/>
          <a:stretch>
            <a:fillRect/>
          </a:stretch>
        </p:blipFill>
        <p:spPr>
          <a:xfrm>
            <a:off x="0" y="0"/>
            <a:ext cx="3987130" cy="719390"/>
          </a:xfrm>
          <a:prstGeom prst="rect">
            <a:avLst/>
          </a:prstGeom>
        </p:spPr>
      </p:pic>
      <p:sp>
        <p:nvSpPr>
          <p:cNvPr id="6" name="TextBox 5">
            <a:extLst>
              <a:ext uri="{FF2B5EF4-FFF2-40B4-BE49-F238E27FC236}">
                <a16:creationId xmlns:a16="http://schemas.microsoft.com/office/drawing/2014/main" id="{D038C498-656F-5272-7215-8CE07BE2F005}"/>
              </a:ext>
            </a:extLst>
          </p:cNvPr>
          <p:cNvSpPr txBox="1"/>
          <p:nvPr/>
        </p:nvSpPr>
        <p:spPr>
          <a:xfrm>
            <a:off x="4561609" y="719390"/>
            <a:ext cx="261851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REFERENCES</a:t>
            </a:r>
          </a:p>
        </p:txBody>
      </p:sp>
      <p:sp>
        <p:nvSpPr>
          <p:cNvPr id="11" name="Footer Placeholder 10">
            <a:extLst>
              <a:ext uri="{FF2B5EF4-FFF2-40B4-BE49-F238E27FC236}">
                <a16:creationId xmlns:a16="http://schemas.microsoft.com/office/drawing/2014/main" id="{C377FC1A-A20C-2C96-D0FE-F584CE1769EE}"/>
              </a:ext>
            </a:extLst>
          </p:cNvPr>
          <p:cNvSpPr>
            <a:spLocks noGrp="1"/>
          </p:cNvSpPr>
          <p:nvPr>
            <p:ph type="ftr" sz="quarter" idx="11"/>
          </p:nvPr>
        </p:nvSpPr>
        <p:spPr>
          <a:xfrm>
            <a:off x="4038599" y="6356350"/>
            <a:ext cx="4274127" cy="365125"/>
          </a:xfrm>
        </p:spPr>
        <p:txBody>
          <a:bodyPr/>
          <a:lstStyle/>
          <a:p>
            <a:r>
              <a:rPr lang="en-US"/>
              <a:t>Batch No.DG-5            Department of CSE</a:t>
            </a:r>
            <a:endParaRPr lang="en-US" dirty="0"/>
          </a:p>
        </p:txBody>
      </p:sp>
      <p:sp>
        <p:nvSpPr>
          <p:cNvPr id="12" name="Slide Number Placeholder 11">
            <a:extLst>
              <a:ext uri="{FF2B5EF4-FFF2-40B4-BE49-F238E27FC236}">
                <a16:creationId xmlns:a16="http://schemas.microsoft.com/office/drawing/2014/main" id="{C5413461-C16F-77EE-30A0-AFE20E543F65}"/>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36</a:t>
            </a:fld>
            <a:endParaRPr lang="en-US"/>
          </a:p>
        </p:txBody>
      </p:sp>
      <p:sp>
        <p:nvSpPr>
          <p:cNvPr id="14" name="TextBox 13">
            <a:extLst>
              <a:ext uri="{FF2B5EF4-FFF2-40B4-BE49-F238E27FC236}">
                <a16:creationId xmlns:a16="http://schemas.microsoft.com/office/drawing/2014/main" id="{B9859140-86DD-3369-4E2D-2BC9B0124BFC}"/>
              </a:ext>
            </a:extLst>
          </p:cNvPr>
          <p:cNvSpPr txBox="1"/>
          <p:nvPr/>
        </p:nvSpPr>
        <p:spPr>
          <a:xfrm>
            <a:off x="997527" y="1586144"/>
            <a:ext cx="10356273" cy="3970318"/>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 H. Wang et al., “Fast earthquake magnitude estimation using lightweight CNNs,” IEEE Trans. Geosci. Remote Sens., 2021</a:t>
            </a:r>
          </a:p>
          <a:p>
            <a:pPr marL="285750" indent="-285750">
              <a:lnSpc>
                <a:spcPct val="200000"/>
              </a:lnSpc>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[2] S. M. Mousavi and G. C. Beroza, “Bayesian deep learning for earthquake source characterization,” Nat. Commun., 2020</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[3] M. N. Uddin et al., “Transfer learning for seismic event magnitude prediction using CNNs,” Comput. Geosci., 2022.</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[4] F. H. Masoumi, “Efficient DL for earthquake prediction: Attention-based CNN-LSTM model,” Seismol. Res. Lett., 2023.</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[5] X. Zhou et al., “Deep residual networks for earthquake early warning,” IEEE Access, 2020.</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500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3F20E1-71D6-D489-7E62-633D098C53FB}"/>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05B4C74A-9909-3AA8-C196-2D0BA268CD7F}"/>
              </a:ext>
            </a:extLst>
          </p:cNvPr>
          <p:cNvSpPr>
            <a:spLocks noGrp="1"/>
          </p:cNvSpPr>
          <p:nvPr>
            <p:ph type="sldNum" sz="quarter" idx="12"/>
          </p:nvPr>
        </p:nvSpPr>
        <p:spPr/>
        <p:txBody>
          <a:bodyPr/>
          <a:lstStyle/>
          <a:p>
            <a:fld id="{6B82C8B7-D441-41F7-9F8A-3B05A8FD01D1}" type="slidenum">
              <a:rPr lang="en-US" smtClean="0"/>
              <a:t>37</a:t>
            </a:fld>
            <a:endParaRPr lang="en-US"/>
          </a:p>
        </p:txBody>
      </p:sp>
      <p:pic>
        <p:nvPicPr>
          <p:cNvPr id="5" name="Picture 4">
            <a:extLst>
              <a:ext uri="{FF2B5EF4-FFF2-40B4-BE49-F238E27FC236}">
                <a16:creationId xmlns:a16="http://schemas.microsoft.com/office/drawing/2014/main" id="{0B7455CD-5DFE-0E7B-F355-9CFD577F9806}"/>
              </a:ext>
            </a:extLst>
          </p:cNvPr>
          <p:cNvPicPr>
            <a:picLocks noChangeAspect="1"/>
          </p:cNvPicPr>
          <p:nvPr/>
        </p:nvPicPr>
        <p:blipFill>
          <a:blip r:embed="rId2"/>
          <a:stretch>
            <a:fillRect/>
          </a:stretch>
        </p:blipFill>
        <p:spPr>
          <a:xfrm>
            <a:off x="0" y="0"/>
            <a:ext cx="3987130" cy="719390"/>
          </a:xfrm>
          <a:prstGeom prst="rect">
            <a:avLst/>
          </a:prstGeom>
        </p:spPr>
      </p:pic>
      <p:sp>
        <p:nvSpPr>
          <p:cNvPr id="6" name="TextBox 5">
            <a:extLst>
              <a:ext uri="{FF2B5EF4-FFF2-40B4-BE49-F238E27FC236}">
                <a16:creationId xmlns:a16="http://schemas.microsoft.com/office/drawing/2014/main" id="{715D8028-2FBA-AA05-ECF5-300031C4A207}"/>
              </a:ext>
            </a:extLst>
          </p:cNvPr>
          <p:cNvSpPr txBox="1"/>
          <p:nvPr/>
        </p:nvSpPr>
        <p:spPr>
          <a:xfrm>
            <a:off x="973394" y="1415845"/>
            <a:ext cx="10380406" cy="3693319"/>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[6] J. Kim et al., “Hybrid CNN-BiLSTM model for seismic analysis,” Soil Dyn. Earthq. Eng., 2021.</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[7] Y. Feng et al., “Seismic graph learning for event forecasting using GNNs,” IEEE Trans. Neural Netw. Learn. Syst., 2022.</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[8] Y. Chen et al., “Encoder-decoder architectures for seismic event localization,” Geophys. J. Int., 2021.</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[9] L. Zhang et al., “Multi-task learning framework for earthquake prediction,” Comput. Geosci., 2022</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[10] H. Liang et al., “Transformer-based classification of seismic waveforms,” IEEE Trans. Geosci. Remote Sens., 2023.</a:t>
            </a:r>
          </a:p>
        </p:txBody>
      </p:sp>
    </p:spTree>
    <p:extLst>
      <p:ext uri="{BB962C8B-B14F-4D97-AF65-F5344CB8AC3E}">
        <p14:creationId xmlns:p14="http://schemas.microsoft.com/office/powerpoint/2010/main" val="772600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B1A7B7E-F288-1D1B-E431-B77107A2AAFF}"/>
              </a:ext>
            </a:extLst>
          </p:cNvPr>
          <p:cNvSpPr>
            <a:spLocks noGrp="1"/>
          </p:cNvSpPr>
          <p:nvPr>
            <p:ph type="ftr" sz="quarter" idx="11"/>
          </p:nvPr>
        </p:nvSpPr>
        <p:spPr/>
        <p:txBody>
          <a:bodyPr/>
          <a:lstStyle/>
          <a:p>
            <a:r>
              <a:rPr lang="en-US"/>
              <a:t>Batch No.DG-5            Department of CSE</a:t>
            </a:r>
          </a:p>
        </p:txBody>
      </p:sp>
      <p:sp>
        <p:nvSpPr>
          <p:cNvPr id="4" name="Slide Number Placeholder 3">
            <a:extLst>
              <a:ext uri="{FF2B5EF4-FFF2-40B4-BE49-F238E27FC236}">
                <a16:creationId xmlns:a16="http://schemas.microsoft.com/office/drawing/2014/main" id="{9C101596-E8EE-22AA-4A4B-01A8424CEB3C}"/>
              </a:ext>
            </a:extLst>
          </p:cNvPr>
          <p:cNvSpPr>
            <a:spLocks noGrp="1"/>
          </p:cNvSpPr>
          <p:nvPr>
            <p:ph type="sldNum" sz="quarter" idx="12"/>
          </p:nvPr>
        </p:nvSpPr>
        <p:spPr/>
        <p:txBody>
          <a:bodyPr/>
          <a:lstStyle/>
          <a:p>
            <a:fld id="{6B82C8B7-D441-41F7-9F8A-3B05A8FD01D1}" type="slidenum">
              <a:rPr lang="en-US" smtClean="0"/>
              <a:t>38</a:t>
            </a:fld>
            <a:endParaRPr lang="en-US"/>
          </a:p>
        </p:txBody>
      </p:sp>
      <p:pic>
        <p:nvPicPr>
          <p:cNvPr id="5" name="Picture 4">
            <a:extLst>
              <a:ext uri="{FF2B5EF4-FFF2-40B4-BE49-F238E27FC236}">
                <a16:creationId xmlns:a16="http://schemas.microsoft.com/office/drawing/2014/main" id="{3D3B5BF0-699A-E9DB-DBD5-16DFC0528352}"/>
              </a:ext>
            </a:extLst>
          </p:cNvPr>
          <p:cNvPicPr>
            <a:picLocks noChangeAspect="1"/>
          </p:cNvPicPr>
          <p:nvPr/>
        </p:nvPicPr>
        <p:blipFill>
          <a:blip r:embed="rId2"/>
          <a:stretch>
            <a:fillRect/>
          </a:stretch>
        </p:blipFill>
        <p:spPr>
          <a:xfrm>
            <a:off x="0" y="0"/>
            <a:ext cx="3987130" cy="719390"/>
          </a:xfrm>
          <a:prstGeom prst="rect">
            <a:avLst/>
          </a:prstGeom>
        </p:spPr>
      </p:pic>
      <p:sp>
        <p:nvSpPr>
          <p:cNvPr id="6" name="TextBox 5">
            <a:extLst>
              <a:ext uri="{FF2B5EF4-FFF2-40B4-BE49-F238E27FC236}">
                <a16:creationId xmlns:a16="http://schemas.microsoft.com/office/drawing/2014/main" id="{08F5D0B3-AD9F-3D66-62DE-B791A094BED1}"/>
              </a:ext>
            </a:extLst>
          </p:cNvPr>
          <p:cNvSpPr txBox="1"/>
          <p:nvPr/>
        </p:nvSpPr>
        <p:spPr>
          <a:xfrm>
            <a:off x="924232" y="1396181"/>
            <a:ext cx="10343536" cy="3693319"/>
          </a:xfrm>
          <a:prstGeom prst="rect">
            <a:avLst/>
          </a:prstGeom>
          <a:noFill/>
        </p:spPr>
        <p:txBody>
          <a:bodyPr wrap="square" rtlCol="0">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[11] NIED, “National Research Institute for Earth Science and Disaster Resilience – K-NET and KiK-net Datasets,” http://www.kyoshin.bosai. go.jp, accessed 2025.</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[12] S. Moturi et al., “Grey wolf-assisted dragonfly-based rule generation for heart and breast cancer prediction,” Comput. Med. Imaging Graph., 2021.</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[13] S. Moturi et al., “Optimized feature extraction and hybrid classification for disease prediction,” Int. J. Recent Technol. Eng., 2019</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[14] M. Sireesha et al., “Coalesce-based binary table: Enhanced frequent pattern mining,” Int. J. Eng. Technol. (UAE), 2018. </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[15] S. Moturi et al., “Frequent itemset mining algorithms: A survey,” J. Theor. Appl. Inf. Technol., 2018.</a:t>
            </a:r>
          </a:p>
        </p:txBody>
      </p:sp>
    </p:spTree>
    <p:extLst>
      <p:ext uri="{BB962C8B-B14F-4D97-AF65-F5344CB8AC3E}">
        <p14:creationId xmlns:p14="http://schemas.microsoft.com/office/powerpoint/2010/main" val="1399621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ED6DC-8DAA-158E-2C98-104A4A8FF8A9}"/>
              </a:ext>
            </a:extLst>
          </p:cNvPr>
          <p:cNvPicPr>
            <a:picLocks noChangeAspect="1"/>
          </p:cNvPicPr>
          <p:nvPr/>
        </p:nvPicPr>
        <p:blipFill>
          <a:blip r:embed="rId2"/>
          <a:stretch>
            <a:fillRect/>
          </a:stretch>
        </p:blipFill>
        <p:spPr>
          <a:xfrm>
            <a:off x="0" y="0"/>
            <a:ext cx="3987130" cy="719390"/>
          </a:xfrm>
          <a:prstGeom prst="rect">
            <a:avLst/>
          </a:prstGeom>
        </p:spPr>
      </p:pic>
      <p:sp>
        <p:nvSpPr>
          <p:cNvPr id="4" name="TextBox 3">
            <a:extLst>
              <a:ext uri="{FF2B5EF4-FFF2-40B4-BE49-F238E27FC236}">
                <a16:creationId xmlns:a16="http://schemas.microsoft.com/office/drawing/2014/main" id="{254B59A3-6EB6-5579-2FF7-A82192282C33}"/>
              </a:ext>
            </a:extLst>
          </p:cNvPr>
          <p:cNvSpPr txBox="1"/>
          <p:nvPr/>
        </p:nvSpPr>
        <p:spPr>
          <a:xfrm>
            <a:off x="3987130" y="831273"/>
            <a:ext cx="4779818"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QUESTIONS and ANSWERS</a:t>
            </a:r>
          </a:p>
        </p:txBody>
      </p:sp>
      <p:sp>
        <p:nvSpPr>
          <p:cNvPr id="11" name="Footer Placeholder 10">
            <a:extLst>
              <a:ext uri="{FF2B5EF4-FFF2-40B4-BE49-F238E27FC236}">
                <a16:creationId xmlns:a16="http://schemas.microsoft.com/office/drawing/2014/main" id="{965F37CB-D831-5F42-51A8-5BD7FA9EA9ED}"/>
              </a:ext>
            </a:extLst>
          </p:cNvPr>
          <p:cNvSpPr>
            <a:spLocks noGrp="1"/>
          </p:cNvSpPr>
          <p:nvPr>
            <p:ph type="ftr" sz="quarter" idx="11"/>
          </p:nvPr>
        </p:nvSpPr>
        <p:spPr>
          <a:xfrm>
            <a:off x="4038600" y="6356350"/>
            <a:ext cx="4398818" cy="365125"/>
          </a:xfrm>
        </p:spPr>
        <p:txBody>
          <a:bodyPr/>
          <a:lstStyle/>
          <a:p>
            <a:r>
              <a:rPr lang="en-US"/>
              <a:t>Batch No.DG-5            Department of CSE</a:t>
            </a:r>
            <a:endParaRPr lang="en-US" dirty="0"/>
          </a:p>
        </p:txBody>
      </p:sp>
      <p:sp>
        <p:nvSpPr>
          <p:cNvPr id="12" name="Slide Number Placeholder 11">
            <a:extLst>
              <a:ext uri="{FF2B5EF4-FFF2-40B4-BE49-F238E27FC236}">
                <a16:creationId xmlns:a16="http://schemas.microsoft.com/office/drawing/2014/main" id="{D7029F9E-D9ED-813F-193D-6C054043F30E}"/>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39</a:t>
            </a:fld>
            <a:endParaRPr lang="en-US"/>
          </a:p>
        </p:txBody>
      </p:sp>
      <p:sp>
        <p:nvSpPr>
          <p:cNvPr id="2" name="TextBox 1">
            <a:extLst>
              <a:ext uri="{FF2B5EF4-FFF2-40B4-BE49-F238E27FC236}">
                <a16:creationId xmlns:a16="http://schemas.microsoft.com/office/drawing/2014/main" id="{5B3A463C-BC08-5E9D-8E07-7707C23FA8BD}"/>
              </a:ext>
            </a:extLst>
          </p:cNvPr>
          <p:cNvSpPr txBox="1"/>
          <p:nvPr/>
        </p:nvSpPr>
        <p:spPr>
          <a:xfrm>
            <a:off x="1838632" y="2153265"/>
            <a:ext cx="8967020" cy="1384995"/>
          </a:xfrm>
          <a:prstGeom prst="rect">
            <a:avLst/>
          </a:prstGeom>
          <a:noFill/>
        </p:spPr>
        <p:txBody>
          <a:bodyPr wrap="square" rtlCol="0">
            <a:spAutoFit/>
          </a:bodyPr>
          <a:lstStyle/>
          <a:p>
            <a:pPr algn="ctr"/>
            <a:r>
              <a:rPr lang="en-US" sz="2800">
                <a:latin typeface="Times New Roman" panose="02020603050405020304" pitchFamily="18" charset="0"/>
                <a:cs typeface="Times New Roman" panose="02020603050405020304" pitchFamily="18" charset="0"/>
              </a:rPr>
              <a:t>We appreciate </a:t>
            </a:r>
            <a:r>
              <a:rPr lang="en-US" sz="2800" b="1">
                <a:latin typeface="Times New Roman" panose="02020603050405020304" pitchFamily="18" charset="0"/>
                <a:cs typeface="Times New Roman" panose="02020603050405020304" pitchFamily="18" charset="0"/>
              </a:rPr>
              <a:t>your time and intereset</a:t>
            </a:r>
          </a:p>
          <a:p>
            <a:pPr algn="ctr"/>
            <a:r>
              <a:rPr lang="en-US" sz="2800">
                <a:latin typeface="Times New Roman" panose="02020603050405020304" pitchFamily="18" charset="0"/>
                <a:cs typeface="Times New Roman" panose="02020603050405020304" pitchFamily="18" charset="0"/>
              </a:rPr>
              <a:t>Now we would like to open floor to ask for </a:t>
            </a:r>
            <a:r>
              <a:rPr lang="en-US" sz="2800" b="1">
                <a:latin typeface="Times New Roman" panose="02020603050405020304" pitchFamily="18" charset="0"/>
                <a:cs typeface="Times New Roman" panose="02020603050405020304" pitchFamily="18" charset="0"/>
              </a:rPr>
              <a:t>question</a:t>
            </a:r>
            <a:r>
              <a:rPr lang="en-US" sz="2800">
                <a:latin typeface="Times New Roman" panose="02020603050405020304" pitchFamily="18" charset="0"/>
                <a:cs typeface="Times New Roman" panose="02020603050405020304" pitchFamily="18" charset="0"/>
              </a:rPr>
              <a:t> and </a:t>
            </a:r>
            <a:r>
              <a:rPr lang="en-US" sz="2800" b="1">
                <a:latin typeface="Times New Roman" panose="02020603050405020304" pitchFamily="18" charset="0"/>
                <a:cs typeface="Times New Roman" panose="02020603050405020304" pitchFamily="18" charset="0"/>
              </a:rPr>
              <a:t>answers</a:t>
            </a:r>
          </a:p>
        </p:txBody>
      </p:sp>
    </p:spTree>
    <p:extLst>
      <p:ext uri="{BB962C8B-B14F-4D97-AF65-F5344CB8AC3E}">
        <p14:creationId xmlns:p14="http://schemas.microsoft.com/office/powerpoint/2010/main" val="2432036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925BEE-ED02-C4BC-F2BC-4CC410215A08}"/>
              </a:ext>
            </a:extLst>
          </p:cNvPr>
          <p:cNvPicPr>
            <a:picLocks noChangeAspect="1"/>
          </p:cNvPicPr>
          <p:nvPr/>
        </p:nvPicPr>
        <p:blipFill>
          <a:blip r:embed="rId2"/>
          <a:stretch>
            <a:fillRect/>
          </a:stretch>
        </p:blipFill>
        <p:spPr>
          <a:xfrm>
            <a:off x="0" y="0"/>
            <a:ext cx="3987130" cy="719390"/>
          </a:xfrm>
          <a:prstGeom prst="rect">
            <a:avLst/>
          </a:prstGeom>
        </p:spPr>
      </p:pic>
      <p:sp>
        <p:nvSpPr>
          <p:cNvPr id="4" name="TextBox 3">
            <a:extLst>
              <a:ext uri="{FF2B5EF4-FFF2-40B4-BE49-F238E27FC236}">
                <a16:creationId xmlns:a16="http://schemas.microsoft.com/office/drawing/2014/main" id="{D939DABD-CD54-6242-AB1C-176E10FC7411}"/>
              </a:ext>
            </a:extLst>
          </p:cNvPr>
          <p:cNvSpPr txBox="1"/>
          <p:nvPr/>
        </p:nvSpPr>
        <p:spPr>
          <a:xfrm>
            <a:off x="3834246" y="623455"/>
            <a:ext cx="4145972"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ACKNOWLEGEMENTS</a:t>
            </a:r>
          </a:p>
        </p:txBody>
      </p:sp>
      <p:sp>
        <p:nvSpPr>
          <p:cNvPr id="5" name="TextBox 4">
            <a:extLst>
              <a:ext uri="{FF2B5EF4-FFF2-40B4-BE49-F238E27FC236}">
                <a16:creationId xmlns:a16="http://schemas.microsoft.com/office/drawing/2014/main" id="{614CB3ED-F8EE-21E7-69A1-8DE76DCE002E}"/>
              </a:ext>
            </a:extLst>
          </p:cNvPr>
          <p:cNvSpPr txBox="1"/>
          <p:nvPr/>
        </p:nvSpPr>
        <p:spPr>
          <a:xfrm>
            <a:off x="959427" y="1220084"/>
            <a:ext cx="10273145" cy="4370427"/>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sincerely thank our </a:t>
            </a:r>
            <a:r>
              <a:rPr lang="en-US" sz="2000" b="1">
                <a:latin typeface="Times New Roman" panose="02020603050405020304" pitchFamily="18" charset="0"/>
                <a:cs typeface="Times New Roman" panose="02020603050405020304" pitchFamily="18" charset="0"/>
              </a:rPr>
              <a:t>guide NUKKALA VIJAY KUMAR </a:t>
            </a:r>
            <a:r>
              <a:rPr lang="en-US" sz="2000" b="1" dirty="0">
                <a:latin typeface="Times New Roman" panose="02020603050405020304" pitchFamily="18" charset="0"/>
                <a:cs typeface="Times New Roman" panose="02020603050405020304" pitchFamily="18" charset="0"/>
              </a:rPr>
              <a:t>SIR</a:t>
            </a:r>
            <a:r>
              <a:rPr lang="en-US" sz="2000" dirty="0">
                <a:latin typeface="Times New Roman" panose="02020603050405020304" pitchFamily="18" charset="0"/>
                <a:cs typeface="Times New Roman" panose="02020603050405020304" pitchFamily="18" charset="0"/>
              </a:rPr>
              <a:t> for their valuable guidance, encouragement, and continuous support throughout the project.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would  like to thank the </a:t>
            </a:r>
            <a:r>
              <a:rPr lang="en-US" sz="2000" b="1" dirty="0">
                <a:latin typeface="Times New Roman" panose="02020603050405020304" pitchFamily="18" charset="0"/>
                <a:cs typeface="Times New Roman" panose="02020603050405020304" pitchFamily="18" charset="0"/>
              </a:rPr>
              <a:t>Head of the Department and faculty of Computer Science and Engineering, Narasaraopeta Engineering College</a:t>
            </a:r>
            <a:r>
              <a:rPr lang="en-US" sz="2000" dirty="0">
                <a:latin typeface="Times New Roman" panose="02020603050405020304" pitchFamily="18" charset="0"/>
                <a:cs typeface="Times New Roman" panose="02020603050405020304" pitchFamily="18" charset="0"/>
              </a:rPr>
              <a:t>, for providing essential resources and technical support.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extend our gratitude to the </a:t>
            </a:r>
            <a:r>
              <a:rPr lang="en-US" sz="2000" b="1" dirty="0">
                <a:latin typeface="Times New Roman" panose="02020603050405020304" pitchFamily="18" charset="0"/>
                <a:cs typeface="Times New Roman" panose="02020603050405020304" pitchFamily="18" charset="0"/>
              </a:rPr>
              <a:t>Department of Computer Science and Engineering, Narasaraopeta Engineering College</a:t>
            </a:r>
            <a:r>
              <a:rPr lang="en-US" sz="2000" dirty="0">
                <a:latin typeface="Times New Roman" panose="02020603050405020304" pitchFamily="18" charset="0"/>
                <a:cs typeface="Times New Roman" panose="02020603050405020304" pitchFamily="18" charset="0"/>
              </a:rPr>
              <a:t>, for providing the required infrastructure and opportunity to present this work.</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any queries or further information, please reach </a:t>
            </a:r>
            <a:r>
              <a:rPr lang="en-US">
                <a:latin typeface="Times New Roman" panose="02020603050405020304" pitchFamily="18" charset="0"/>
                <a:cs typeface="Times New Roman" panose="02020603050405020304" pitchFamily="18" charset="0"/>
              </a:rPr>
              <a:t>out to:ammisettychamundeswari0@gmail.com</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12" name="Footer Placeholder 11">
            <a:extLst>
              <a:ext uri="{FF2B5EF4-FFF2-40B4-BE49-F238E27FC236}">
                <a16:creationId xmlns:a16="http://schemas.microsoft.com/office/drawing/2014/main" id="{56227673-EB96-8C85-D2BC-12B82DE72E79}"/>
              </a:ext>
            </a:extLst>
          </p:cNvPr>
          <p:cNvSpPr>
            <a:spLocks noGrp="1"/>
          </p:cNvSpPr>
          <p:nvPr>
            <p:ph type="ftr" sz="quarter" idx="11"/>
          </p:nvPr>
        </p:nvSpPr>
        <p:spPr>
          <a:xfrm>
            <a:off x="4038600" y="6356350"/>
            <a:ext cx="4305300" cy="365125"/>
          </a:xfrm>
        </p:spPr>
        <p:txBody>
          <a:bodyPr/>
          <a:lstStyle/>
          <a:p>
            <a:r>
              <a:rPr lang="en-US"/>
              <a:t>Batch No.DG-5            Department of CSE</a:t>
            </a:r>
            <a:endParaRPr lang="en-US" dirty="0"/>
          </a:p>
        </p:txBody>
      </p:sp>
      <p:sp>
        <p:nvSpPr>
          <p:cNvPr id="13" name="Slide Number Placeholder 12">
            <a:extLst>
              <a:ext uri="{FF2B5EF4-FFF2-40B4-BE49-F238E27FC236}">
                <a16:creationId xmlns:a16="http://schemas.microsoft.com/office/drawing/2014/main" id="{EB86814C-E262-775B-CC55-0A1E17D97002}"/>
              </a:ext>
            </a:extLst>
          </p:cNvPr>
          <p:cNvSpPr>
            <a:spLocks noGrp="1"/>
          </p:cNvSpPr>
          <p:nvPr>
            <p:ph type="sldNum" sz="quarter" idx="12"/>
          </p:nvPr>
        </p:nvSpPr>
        <p:spPr>
          <a:xfrm>
            <a:off x="8610600" y="6356350"/>
            <a:ext cx="2743200" cy="365125"/>
          </a:xfrm>
        </p:spPr>
        <p:txBody>
          <a:bodyPr/>
          <a:lstStyle/>
          <a:p>
            <a:fld id="{6B82C8B7-D441-41F7-9F8A-3B05A8FD01D1}" type="slidenum">
              <a:rPr lang="en-US" smtClean="0"/>
              <a:t>40</a:t>
            </a:fld>
            <a:endParaRPr lang="en-US"/>
          </a:p>
        </p:txBody>
      </p:sp>
    </p:spTree>
    <p:extLst>
      <p:ext uri="{BB962C8B-B14F-4D97-AF65-F5344CB8AC3E}">
        <p14:creationId xmlns:p14="http://schemas.microsoft.com/office/powerpoint/2010/main" val="1226830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TotalTime>
  <Words>4402</Words>
  <Application>Microsoft Office PowerPoint</Application>
  <PresentationFormat>Widescreen</PresentationFormat>
  <Paragraphs>546</Paragraphs>
  <Slides>40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SHAIK FAHEEM AHMED</dc:creator>
  <cp:lastModifiedBy>SHAIK FAHEEM AHMED</cp:lastModifiedBy>
  <cp:revision>11</cp:revision>
  <dcterms:created xsi:type="dcterms:W3CDTF">2025-11-08T12:38:47Z</dcterms:created>
  <dcterms:modified xsi:type="dcterms:W3CDTF">2026-02-07T08:24:22Z</dcterms:modified>
</cp:coreProperties>
</file>